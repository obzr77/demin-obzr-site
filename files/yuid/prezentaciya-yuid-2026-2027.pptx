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Теория</c:v>
                </c:pt>
              </c:strCache>
            </c:strRef>
          </c:tx>
          <c:spPr>
            <a:solidFill>
              <a:srgbClr val="6B7B8C"/>
            </a:solidFill>
            <a:effectLst/>
          </c:spPr>
          <c:invertIfNegative val="0"/>
          <c:dLbls>
            <c:numFmt formatCode="0;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М1</c:v>
                  </c:pt>
                  <c:pt idx="1">
                    <c:v>М2</c:v>
                  </c:pt>
                  <c:pt idx="2">
                    <c:v>М3</c:v>
                  </c:pt>
                  <c:pt idx="3">
                    <c:v>М4</c:v>
                  </c:pt>
                  <c:pt idx="4">
                    <c:v>М5</c:v>
                  </c:pt>
                  <c:pt idx="5">
                    <c:v>М6</c:v>
                  </c:pt>
                  <c:pt idx="6">
                    <c:v>М7</c:v>
                  </c:pt>
                  <c:pt idx="7">
                    <c:v>М8</c:v>
                  </c:pt>
                  <c:pt idx="8">
                    <c:v>М9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</c:v>
                </c:pt>
                <c:pt idx="1">
                  <c:v>3</c:v>
                </c:pt>
                <c:pt idx="2">
                  <c:v>1</c:v>
                </c:pt>
                <c:pt idx="3">
                  <c:v>1</c:v>
                </c:pt>
                <c:pt idx="4">
                  <c:v>3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Практика</c:v>
                </c:pt>
              </c:strCache>
            </c:strRef>
          </c:tx>
          <c:spPr>
            <a:solidFill>
              <a:srgbClr val="003D7A"/>
            </a:solidFill>
            <a:effectLst/>
          </c:spPr>
          <c:invertIfNegative val="0"/>
          <c:dLbls>
            <c:numFmt formatCode="0;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М1</c:v>
                  </c:pt>
                  <c:pt idx="1">
                    <c:v>М2</c:v>
                  </c:pt>
                  <c:pt idx="2">
                    <c:v>М3</c:v>
                  </c:pt>
                  <c:pt idx="3">
                    <c:v>М4</c:v>
                  </c:pt>
                  <c:pt idx="4">
                    <c:v>М5</c:v>
                  </c:pt>
                  <c:pt idx="5">
                    <c:v>М6</c:v>
                  </c:pt>
                  <c:pt idx="6">
                    <c:v>М7</c:v>
                  </c:pt>
                  <c:pt idx="7">
                    <c:v>М8</c:v>
                  </c:pt>
                  <c:pt idx="8">
                    <c:v>М9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</c:v>
                </c:pt>
                <c:pt idx="1">
                  <c:v>5</c:v>
                </c:pt>
                <c:pt idx="2">
                  <c:v>3</c:v>
                </c:pt>
                <c:pt idx="3">
                  <c:v>4</c:v>
                </c:pt>
                <c:pt idx="4">
                  <c:v>4</c:v>
                </c:pt>
                <c:pt idx="5">
                  <c:v>2</c:v>
                </c:pt>
                <c:pt idx="6">
                  <c:v>3</c:v>
                </c:pt>
                <c:pt idx="7">
                  <c:v>2</c:v>
                </c:pt>
                <c:pt idx="8">
                  <c:v>2</c:v>
                </c:pt>
              </c:numCache>
            </c:numRef>
          </c:val>
        </c:ser>
        <c:dLbls>
          <c:numFmt formatCode="0;;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6B7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"/>
        </c:scaling>
        <c:delete val="0"/>
        <c:axPos val="l"/>
        <c:majorGridlines>
          <c:spPr>
            <a:ln w="6350" cap="flat">
              <a:solidFill>
                <a:srgbClr val="E6EB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B7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3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Название программы: «Юные инспекторы движения (ЮИД)», 2026–2027 учебный год. Представьтесь, расскажите, зачем создан отряд.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Ключевое ограничение: юные инспекторы действуют только под руководством педагога и сотрудников ГИБДД.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М1 — введение, М2 — ПДД, М3 — велосипед и СИМ, М4 — первая помощь, М5 — пропаганда и шефская работа, М6 — акции с ГИБДД, М7 — «Безопасное колесо», М8 — проекты, М9 — итоговая аттестация.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Приёмы отрабатываются на тренажёре и с подручными средствами. Приказ Минздрава России от 03.05.2024 № 220н определяет перечень состояний и мероприятий по первой помощи.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03D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ЮИД · МБОУ СШ № 2 г. Лысково · 2026–2027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315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Дополнительная общеразвивающая программа · 2026–2027 учебный год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5852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Отряд юных инспекторов движения (ЮИД)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0040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Безопасная дорога начинается с тебя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4348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Дёмин А. Ю. · МБОУ СШ № 2 г. Лысково</a:t>
            </a:r>
            <a:endParaRPr lang="en-US" sz="1200" dirty="0"/>
          </a:p>
        </p:txBody>
      </p:sp>
      <p:sp>
        <p:nvSpPr>
          <p:cNvPr id="6" name="cover-logo-plate"/>
          <p:cNvSpPr/>
          <p:nvPr/>
        </p:nvSpPr>
        <p:spPr>
          <a:xfrm>
            <a:off x="6492240" y="1097280"/>
            <a:ext cx="2194560" cy="219456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cover-logo" descr="Эмблема ЮИД — Юный инспектор движения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234440"/>
            <a:ext cx="1920240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такое отряд ЮИД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Подростки, которые учат безопасности себя и других</a:t>
            </a:r>
            <a:endParaRPr lang="en-US" sz="1300" dirty="0"/>
          </a:p>
        </p:txBody>
      </p:sp>
      <p:sp>
        <p:nvSpPr>
          <p:cNvPr id="4" name="stat-card-0"/>
          <p:cNvSpPr/>
          <p:nvPr/>
        </p:nvSpPr>
        <p:spPr>
          <a:xfrm>
            <a:off x="457200" y="1417320"/>
            <a:ext cx="1920240" cy="1920240"/>
          </a:xfrm>
          <a:prstGeom prst="roundRect">
            <a:avLst>
              <a:gd name="adj" fmla="val 3810"/>
            </a:avLst>
          </a:prstGeom>
          <a:solidFill>
            <a:srgbClr val="F5F7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5544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2860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часа за год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6517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четвергам, 17.00–17.40</a:t>
            </a:r>
            <a:endParaRPr lang="en-US" sz="1200" dirty="0"/>
          </a:p>
        </p:txBody>
      </p:sp>
      <p:sp>
        <p:nvSpPr>
          <p:cNvPr id="8" name="stat-card-1"/>
          <p:cNvSpPr/>
          <p:nvPr/>
        </p:nvSpPr>
        <p:spPr>
          <a:xfrm>
            <a:off x="2542032" y="1417320"/>
            <a:ext cx="1920240" cy="1920240"/>
          </a:xfrm>
          <a:prstGeom prst="roundRect">
            <a:avLst>
              <a:gd name="adj" fmla="val 3810"/>
            </a:avLst>
          </a:prstGeom>
          <a:solidFill>
            <a:srgbClr val="F5F7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42032" y="15544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2542032" y="22860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модулей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679192" y="26517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ПДД до итоговой аттестации</a:t>
            </a:r>
            <a:endParaRPr lang="en-US" sz="1200" dirty="0"/>
          </a:p>
        </p:txBody>
      </p:sp>
      <p:sp>
        <p:nvSpPr>
          <p:cNvPr id="12" name="stat-card-2"/>
          <p:cNvSpPr/>
          <p:nvPr/>
        </p:nvSpPr>
        <p:spPr>
          <a:xfrm>
            <a:off x="4626864" y="1417320"/>
            <a:ext cx="1920240" cy="1920240"/>
          </a:xfrm>
          <a:prstGeom prst="roundRect">
            <a:avLst>
              <a:gd name="adj" fmla="val 3810"/>
            </a:avLst>
          </a:prstGeom>
          <a:solidFill>
            <a:srgbClr val="F5F7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26864" y="15544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4626864" y="22860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часов практики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764024" y="26517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акции, вождение, первая помощь</a:t>
            </a:r>
            <a:endParaRPr lang="en-US" sz="1200" dirty="0"/>
          </a:p>
        </p:txBody>
      </p:sp>
      <p:sp>
        <p:nvSpPr>
          <p:cNvPr id="16" name="stat-card-3"/>
          <p:cNvSpPr/>
          <p:nvPr/>
        </p:nvSpPr>
        <p:spPr>
          <a:xfrm>
            <a:off x="6711696" y="1417320"/>
            <a:ext cx="1920240" cy="1920240"/>
          </a:xfrm>
          <a:prstGeom prst="roundRect">
            <a:avLst>
              <a:gd name="adj" fmla="val 3810"/>
            </a:avLst>
          </a:prstGeom>
          <a:solidFill>
            <a:srgbClr val="F5F7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11696" y="15544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14–17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6711696" y="22860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лет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48856" y="26517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8–11 классы, добровольно</a:t>
            </a:r>
            <a:endParaRPr lang="en-US" sz="1200" dirty="0"/>
          </a:p>
        </p:txBody>
      </p:sp>
      <p:sp>
        <p:nvSpPr>
          <p:cNvPr id="20" name="banner"/>
          <p:cNvSpPr/>
          <p:nvPr/>
        </p:nvSpPr>
        <p:spPr>
          <a:xfrm>
            <a:off x="457200" y="361188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365760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Юный инспектор не регулирует движение. Он изучает правила, учит других, участвует в акциях вместе с сотрудниками Госавтоинспекции.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Цель и задачи программы</a:t>
            </a:r>
            <a:endParaRPr lang="en-US" sz="2600" dirty="0"/>
          </a:p>
        </p:txBody>
      </p:sp>
      <p:sp>
        <p:nvSpPr>
          <p:cNvPr id="3" name="goal"/>
          <p:cNvSpPr/>
          <p:nvPr/>
        </p:nvSpPr>
        <p:spPr>
          <a:xfrm>
            <a:off x="457200" y="109728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EEF3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4300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Цель: </a:t>
            </a:r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формирование культуры безопасного поведения на дорогах и готовности к профилактической работе среди сверстников и младших школьников.</a:t>
            </a:r>
            <a:endParaRPr lang="en-US" sz="1500" dirty="0"/>
          </a:p>
        </p:txBody>
      </p:sp>
      <p:sp>
        <p:nvSpPr>
          <p:cNvPr id="5" name="col-card-0"/>
          <p:cNvSpPr/>
          <p:nvPr/>
        </p:nvSpPr>
        <p:spPr>
          <a:xfrm>
            <a:off x="457200" y="2194560"/>
            <a:ext cx="2651760" cy="2286000"/>
          </a:xfrm>
          <a:prstGeom prst="roundRect">
            <a:avLst>
              <a:gd name="adj" fmla="val 3200"/>
            </a:avLst>
          </a:prstGeom>
          <a:solidFill>
            <a:srgbClr val="F5F7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6" name="ic-bg-0"/>
          <p:cNvSpPr/>
          <p:nvPr/>
        </p:nvSpPr>
        <p:spPr>
          <a:xfrm>
            <a:off x="640080" y="2377440"/>
            <a:ext cx="640080" cy="640080"/>
          </a:xfrm>
          <a:prstGeom prst="ellipse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pic>
        <p:nvPicPr>
          <p:cNvPr id="7" name="ic-0" descr="Знать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2542032"/>
            <a:ext cx="310896" cy="31089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71600" y="23774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Знать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315468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ПДД, знаки, разметка, причины ДТП, алгоритм действий при происшествии</a:t>
            </a:r>
            <a:endParaRPr lang="en-US" sz="1400" dirty="0"/>
          </a:p>
        </p:txBody>
      </p:sp>
      <p:sp>
        <p:nvSpPr>
          <p:cNvPr id="10" name="col-card-1"/>
          <p:cNvSpPr/>
          <p:nvPr/>
        </p:nvSpPr>
        <p:spPr>
          <a:xfrm>
            <a:off x="3246120" y="2194560"/>
            <a:ext cx="2651760" cy="2286000"/>
          </a:xfrm>
          <a:prstGeom prst="roundRect">
            <a:avLst>
              <a:gd name="adj" fmla="val 3200"/>
            </a:avLst>
          </a:prstGeom>
          <a:solidFill>
            <a:srgbClr val="F5F7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11" name="ic-bg-1"/>
          <p:cNvSpPr/>
          <p:nvPr/>
        </p:nvSpPr>
        <p:spPr>
          <a:xfrm>
            <a:off x="3429000" y="2377440"/>
            <a:ext cx="640080" cy="640080"/>
          </a:xfrm>
          <a:prstGeom prst="ellipse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pic>
        <p:nvPicPr>
          <p:cNvPr id="12" name="ic-1" descr="Уметь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592" y="2542032"/>
            <a:ext cx="310896" cy="31089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160520" y="23774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Уметь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3429000" y="315468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безопасно ехать на велосипеде, оказывать первую помощь, работать с макетом перекрёстка</a:t>
            </a:r>
            <a:endParaRPr lang="en-US" sz="1400" dirty="0"/>
          </a:p>
        </p:txBody>
      </p:sp>
      <p:sp>
        <p:nvSpPr>
          <p:cNvPr id="15" name="col-card-2"/>
          <p:cNvSpPr/>
          <p:nvPr/>
        </p:nvSpPr>
        <p:spPr>
          <a:xfrm>
            <a:off x="6035040" y="2194560"/>
            <a:ext cx="2651760" cy="2286000"/>
          </a:xfrm>
          <a:prstGeom prst="roundRect">
            <a:avLst>
              <a:gd name="adj" fmla="val 3200"/>
            </a:avLst>
          </a:prstGeom>
          <a:solidFill>
            <a:srgbClr val="F5F7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16" name="ic-bg-2"/>
          <p:cNvSpPr/>
          <p:nvPr/>
        </p:nvSpPr>
        <p:spPr>
          <a:xfrm>
            <a:off x="6217920" y="2377440"/>
            <a:ext cx="640080" cy="640080"/>
          </a:xfrm>
          <a:prstGeom prst="ellipse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pic>
        <p:nvPicPr>
          <p:cNvPr id="17" name="ic-2" descr="Делать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2542032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949440" y="23774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Делать</a:t>
            </a:r>
            <a:endParaRPr lang="en-US" sz="2000" dirty="0"/>
          </a:p>
        </p:txBody>
      </p:sp>
      <p:sp>
        <p:nvSpPr>
          <p:cNvPr id="19" name="Text 14"/>
          <p:cNvSpPr txBox="1"/>
          <p:nvPr/>
        </p:nvSpPr>
        <p:spPr>
          <a:xfrm>
            <a:off x="6217920" y="315468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проводить игры и акции, готовить памятки и ролики, работать в команде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устроен отряд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Самоуправление: каждый получает роль и ответственность</a:t>
            </a:r>
            <a:endParaRPr lang="en-US" sz="1300" dirty="0"/>
          </a:p>
        </p:txBody>
      </p:sp>
      <p:sp>
        <p:nvSpPr>
          <p:cNvPr id="4" name="headquarters"/>
          <p:cNvSpPr/>
          <p:nvPr/>
        </p:nvSpPr>
        <p:spPr>
          <a:xfrm>
            <a:off x="2926080" y="1325880"/>
            <a:ext cx="3291840" cy="731520"/>
          </a:xfrm>
          <a:prstGeom prst="roundRect">
            <a:avLst>
              <a:gd name="adj" fmla="val 10000"/>
            </a:avLst>
          </a:prstGeom>
          <a:solidFill>
            <a:srgbClr val="003D7A"/>
          </a:solidFill>
          <a:ln w="9525">
            <a:solidFill>
              <a:srgbClr val="003D7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926080" y="13258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Штаб отряда · командир</a:t>
            </a:r>
            <a:endParaRPr lang="en-US" sz="1700" dirty="0"/>
          </a:p>
        </p:txBody>
      </p:sp>
      <p:sp>
        <p:nvSpPr>
          <p:cNvPr id="6" name="conn"/>
          <p:cNvSpPr/>
          <p:nvPr/>
        </p:nvSpPr>
        <p:spPr>
          <a:xfrm>
            <a:off x="4572000" y="2057400"/>
            <a:ext cx="0" cy="320040"/>
          </a:xfrm>
          <a:prstGeom prst="line">
            <a:avLst/>
          </a:prstGeom>
          <a:noFill/>
          <a:ln w="19050">
            <a:solidFill>
              <a:srgbClr val="5F6B76"/>
            </a:solidFill>
            <a:prstDash val="solid"/>
          </a:ln>
        </p:spPr>
      </p:sp>
      <p:sp>
        <p:nvSpPr>
          <p:cNvPr id="7" name="role-0"/>
          <p:cNvSpPr/>
          <p:nvPr/>
        </p:nvSpPr>
        <p:spPr>
          <a:xfrm>
            <a:off x="457200" y="246888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5F7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8" name="role-top-0"/>
          <p:cNvSpPr/>
          <p:nvPr/>
        </p:nvSpPr>
        <p:spPr>
          <a:xfrm>
            <a:off x="457200" y="2468880"/>
            <a:ext cx="1920240" cy="73152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2651760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Информация и пресса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3246120"/>
            <a:ext cx="1700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памятки, плакаты, ролики, сайт</a:t>
            </a:r>
            <a:endParaRPr lang="en-US" sz="1250" dirty="0"/>
          </a:p>
        </p:txBody>
      </p:sp>
      <p:sp>
        <p:nvSpPr>
          <p:cNvPr id="11" name="role-1"/>
          <p:cNvSpPr/>
          <p:nvPr/>
        </p:nvSpPr>
        <p:spPr>
          <a:xfrm>
            <a:off x="2542032" y="246888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5F7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12" name="role-top-1"/>
          <p:cNvSpPr/>
          <p:nvPr/>
        </p:nvSpPr>
        <p:spPr>
          <a:xfrm>
            <a:off x="2542032" y="2468880"/>
            <a:ext cx="1920240" cy="7315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651760" y="2651760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Обучение младших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651760" y="3246120"/>
            <a:ext cx="1700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игры и занятия для 1–4 классов</a:t>
            </a:r>
            <a:endParaRPr lang="en-US" sz="1250" dirty="0"/>
          </a:p>
        </p:txBody>
      </p:sp>
      <p:sp>
        <p:nvSpPr>
          <p:cNvPr id="15" name="role-2"/>
          <p:cNvSpPr/>
          <p:nvPr/>
        </p:nvSpPr>
        <p:spPr>
          <a:xfrm>
            <a:off x="4626864" y="246888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5F7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16" name="role-top-2"/>
          <p:cNvSpPr/>
          <p:nvPr/>
        </p:nvSpPr>
        <p:spPr>
          <a:xfrm>
            <a:off x="4626864" y="2468880"/>
            <a:ext cx="1920240" cy="7315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36592" y="2651760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Спорт и вождение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736592" y="3246120"/>
            <a:ext cx="1700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трасса, тренировки, судейство</a:t>
            </a:r>
            <a:endParaRPr lang="en-US" sz="1250" dirty="0"/>
          </a:p>
        </p:txBody>
      </p:sp>
      <p:sp>
        <p:nvSpPr>
          <p:cNvPr id="19" name="role-3"/>
          <p:cNvSpPr/>
          <p:nvPr/>
        </p:nvSpPr>
        <p:spPr>
          <a:xfrm>
            <a:off x="6711696" y="246888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5F7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20" name="role-top-3"/>
          <p:cNvSpPr/>
          <p:nvPr/>
        </p:nvSpPr>
        <p:spPr>
          <a:xfrm>
            <a:off x="6711696" y="2468880"/>
            <a:ext cx="1920240" cy="73152"/>
          </a:xfrm>
          <a:prstGeom prst="rect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21424" y="2651760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Связь с ГИБДД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821424" y="3246120"/>
            <a:ext cx="1700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акции, встречи, консультации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Штаб избирается на первом сборе. Руководитель — педагог, куратор от Госавтоинспекции — сотрудник ОГИБДД.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Девять модулей программы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модуль завершается результатом: зачётом, проектом или тестом</a:t>
            </a:r>
            <a:endParaRPr lang="en-US" sz="1300" dirty="0"/>
          </a:p>
        </p:txBody>
      </p:sp>
      <p:sp>
        <p:nvSpPr>
          <p:cNvPr id="4" name="mod-1"/>
          <p:cNvSpPr/>
          <p:nvPr/>
        </p:nvSpPr>
        <p:spPr>
          <a:xfrm>
            <a:off x="457200" y="1371600"/>
            <a:ext cx="2651760" cy="978408"/>
          </a:xfrm>
          <a:prstGeom prst="roundRect">
            <a:avLst>
              <a:gd name="adj" fmla="val 7477"/>
            </a:avLst>
          </a:prstGeom>
          <a:solidFill>
            <a:srgbClr val="F5F7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5" name="mod-num-bg-1"/>
          <p:cNvSpPr/>
          <p:nvPr/>
        </p:nvSpPr>
        <p:spPr>
          <a:xfrm>
            <a:off x="566928" y="1481328"/>
            <a:ext cx="384048" cy="384048"/>
          </a:xfrm>
          <a:prstGeom prst="ellipse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143560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Введение. Движение ЮИД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024128" y="20756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ч · опрос</a:t>
            </a:r>
            <a:endParaRPr lang="en-US" sz="1100" dirty="0"/>
          </a:p>
        </p:txBody>
      </p:sp>
      <p:sp>
        <p:nvSpPr>
          <p:cNvPr id="9" name="mod-2"/>
          <p:cNvSpPr/>
          <p:nvPr/>
        </p:nvSpPr>
        <p:spPr>
          <a:xfrm>
            <a:off x="3246120" y="1371600"/>
            <a:ext cx="2651760" cy="978408"/>
          </a:xfrm>
          <a:prstGeom prst="roundRect">
            <a:avLst>
              <a:gd name="adj" fmla="val 7477"/>
            </a:avLst>
          </a:prstGeom>
          <a:solidFill>
            <a:srgbClr val="F5F7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10" name="mod-num-bg-2"/>
          <p:cNvSpPr/>
          <p:nvPr/>
        </p:nvSpPr>
        <p:spPr>
          <a:xfrm>
            <a:off x="3355848" y="1481328"/>
            <a:ext cx="384048" cy="384048"/>
          </a:xfrm>
          <a:prstGeom prst="ellipse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55848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813048" y="143560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 дорожного движения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813048" y="20756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ч · тест</a:t>
            </a:r>
            <a:endParaRPr lang="en-US" sz="1100" dirty="0"/>
          </a:p>
        </p:txBody>
      </p:sp>
      <p:sp>
        <p:nvSpPr>
          <p:cNvPr id="14" name="mod-3"/>
          <p:cNvSpPr/>
          <p:nvPr/>
        </p:nvSpPr>
        <p:spPr>
          <a:xfrm>
            <a:off x="6035040" y="1371600"/>
            <a:ext cx="2651760" cy="978408"/>
          </a:xfrm>
          <a:prstGeom prst="roundRect">
            <a:avLst>
              <a:gd name="adj" fmla="val 7477"/>
            </a:avLst>
          </a:prstGeom>
          <a:solidFill>
            <a:srgbClr val="F5F7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15" name="mod-num-bg-3"/>
          <p:cNvSpPr/>
          <p:nvPr/>
        </p:nvSpPr>
        <p:spPr>
          <a:xfrm>
            <a:off x="6144768" y="1481328"/>
            <a:ext cx="384048" cy="384048"/>
          </a:xfrm>
          <a:prstGeom prst="ellipse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44768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601968" y="143560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Велосипед, средства индивидуальной мобильности, фигурное вождение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601968" y="20756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ч · зачёт</a:t>
            </a:r>
            <a:endParaRPr lang="en-US" sz="1100" dirty="0"/>
          </a:p>
        </p:txBody>
      </p:sp>
      <p:sp>
        <p:nvSpPr>
          <p:cNvPr id="19" name="mod-4"/>
          <p:cNvSpPr/>
          <p:nvPr/>
        </p:nvSpPr>
        <p:spPr>
          <a:xfrm>
            <a:off x="457200" y="2468880"/>
            <a:ext cx="2651760" cy="978408"/>
          </a:xfrm>
          <a:prstGeom prst="roundRect">
            <a:avLst>
              <a:gd name="adj" fmla="val 7477"/>
            </a:avLst>
          </a:prstGeom>
          <a:solidFill>
            <a:srgbClr val="F5F7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20" name="mod-num-bg-4"/>
          <p:cNvSpPr/>
          <p:nvPr/>
        </p:nvSpPr>
        <p:spPr>
          <a:xfrm>
            <a:off x="566928" y="2578608"/>
            <a:ext cx="384048" cy="384048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" y="2578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24128" y="253288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Первая помощь при ДТП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1024128" y="31729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ч · зачёт</a:t>
            </a:r>
            <a:endParaRPr lang="en-US" sz="1100" dirty="0"/>
          </a:p>
        </p:txBody>
      </p:sp>
      <p:sp>
        <p:nvSpPr>
          <p:cNvPr id="24" name="mod-5"/>
          <p:cNvSpPr/>
          <p:nvPr/>
        </p:nvSpPr>
        <p:spPr>
          <a:xfrm>
            <a:off x="3246120" y="2468880"/>
            <a:ext cx="2651760" cy="978408"/>
          </a:xfrm>
          <a:prstGeom prst="roundRect">
            <a:avLst>
              <a:gd name="adj" fmla="val 7477"/>
            </a:avLst>
          </a:prstGeom>
          <a:solidFill>
            <a:srgbClr val="F5F7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25" name="mod-num-bg-5"/>
          <p:cNvSpPr/>
          <p:nvPr/>
        </p:nvSpPr>
        <p:spPr>
          <a:xfrm>
            <a:off x="3355848" y="2578608"/>
            <a:ext cx="384048" cy="384048"/>
          </a:xfrm>
          <a:prstGeom prst="ellipse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355848" y="2578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3813048" y="253288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Пропаганда безопасности дорожного движения и шефская работа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3813048" y="31729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ч · проект</a:t>
            </a:r>
            <a:endParaRPr lang="en-US" sz="1100" dirty="0"/>
          </a:p>
        </p:txBody>
      </p:sp>
      <p:sp>
        <p:nvSpPr>
          <p:cNvPr id="29" name="mod-6"/>
          <p:cNvSpPr/>
          <p:nvPr/>
        </p:nvSpPr>
        <p:spPr>
          <a:xfrm>
            <a:off x="6035040" y="2468880"/>
            <a:ext cx="2651760" cy="978408"/>
          </a:xfrm>
          <a:prstGeom prst="roundRect">
            <a:avLst>
              <a:gd name="adj" fmla="val 7477"/>
            </a:avLst>
          </a:prstGeom>
          <a:solidFill>
            <a:srgbClr val="F5F7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30" name="mod-num-bg-6"/>
          <p:cNvSpPr/>
          <p:nvPr/>
        </p:nvSpPr>
        <p:spPr>
          <a:xfrm>
            <a:off x="6144768" y="2578608"/>
            <a:ext cx="384048" cy="384048"/>
          </a:xfrm>
          <a:prstGeom prst="ellipse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144768" y="2578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601968" y="253288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Практическая работа с Госавтоинспекцией: акции и рейды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6601968" y="31729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ч · наблюдение</a:t>
            </a:r>
            <a:endParaRPr lang="en-US" sz="1100" dirty="0"/>
          </a:p>
        </p:txBody>
      </p:sp>
      <p:sp>
        <p:nvSpPr>
          <p:cNvPr id="34" name="mod-7"/>
          <p:cNvSpPr/>
          <p:nvPr/>
        </p:nvSpPr>
        <p:spPr>
          <a:xfrm>
            <a:off x="457200" y="3566160"/>
            <a:ext cx="2651760" cy="978408"/>
          </a:xfrm>
          <a:prstGeom prst="roundRect">
            <a:avLst>
              <a:gd name="adj" fmla="val 7477"/>
            </a:avLst>
          </a:prstGeom>
          <a:solidFill>
            <a:srgbClr val="F5F7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35" name="mod-num-bg-7"/>
          <p:cNvSpPr/>
          <p:nvPr/>
        </p:nvSpPr>
        <p:spPr>
          <a:xfrm>
            <a:off x="566928" y="3675888"/>
            <a:ext cx="384048" cy="384048"/>
          </a:xfrm>
          <a:prstGeom prst="ellipse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66928" y="3675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024128" y="363016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Подготовка к конкурсу «Безопасное колесо»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1024128" y="427024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ч · соревнование</a:t>
            </a:r>
            <a:endParaRPr lang="en-US" sz="1100" dirty="0"/>
          </a:p>
        </p:txBody>
      </p:sp>
      <p:sp>
        <p:nvSpPr>
          <p:cNvPr id="39" name="mod-8"/>
          <p:cNvSpPr/>
          <p:nvPr/>
        </p:nvSpPr>
        <p:spPr>
          <a:xfrm>
            <a:off x="3246120" y="3566160"/>
            <a:ext cx="2651760" cy="978408"/>
          </a:xfrm>
          <a:prstGeom prst="roundRect">
            <a:avLst>
              <a:gd name="adj" fmla="val 7477"/>
            </a:avLst>
          </a:prstGeom>
          <a:solidFill>
            <a:srgbClr val="F5F7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40" name="mod-num-bg-8"/>
          <p:cNvSpPr/>
          <p:nvPr/>
        </p:nvSpPr>
        <p:spPr>
          <a:xfrm>
            <a:off x="3355848" y="3675888"/>
            <a:ext cx="384048" cy="384048"/>
          </a:xfrm>
          <a:prstGeom prst="ellipse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355848" y="3675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3813048" y="363016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Проектная и исследовательская деятельность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3813048" y="427024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ч · защита проекта</a:t>
            </a:r>
            <a:endParaRPr lang="en-US" sz="1100" dirty="0"/>
          </a:p>
        </p:txBody>
      </p:sp>
      <p:sp>
        <p:nvSpPr>
          <p:cNvPr id="44" name="mod-9"/>
          <p:cNvSpPr/>
          <p:nvPr/>
        </p:nvSpPr>
        <p:spPr>
          <a:xfrm>
            <a:off x="6035040" y="3566160"/>
            <a:ext cx="2651760" cy="978408"/>
          </a:xfrm>
          <a:prstGeom prst="roundRect">
            <a:avLst>
              <a:gd name="adj" fmla="val 7477"/>
            </a:avLst>
          </a:prstGeom>
          <a:solidFill>
            <a:srgbClr val="F5F7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45" name="mod-num-bg-9"/>
          <p:cNvSpPr/>
          <p:nvPr/>
        </p:nvSpPr>
        <p:spPr>
          <a:xfrm>
            <a:off x="6144768" y="3675888"/>
            <a:ext cx="384048" cy="384048"/>
          </a:xfrm>
          <a:prstGeom prst="ellipse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144768" y="3675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6601968" y="363016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Итоговая аттестация</a:t>
            </a:r>
            <a:endParaRPr lang="en-US" sz="1150" dirty="0"/>
          </a:p>
        </p:txBody>
      </p:sp>
      <p:sp>
        <p:nvSpPr>
          <p:cNvPr id="48" name="Text 46"/>
          <p:cNvSpPr txBox="1"/>
          <p:nvPr/>
        </p:nvSpPr>
        <p:spPr>
          <a:xfrm>
            <a:off x="6601968" y="427024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ч · тест, зачёт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Больше практики, чем лекций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Часы по модулям: теория и практика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280160"/>
          <a:ext cx="55778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big-practice"/>
          <p:cNvSpPr/>
          <p:nvPr/>
        </p:nvSpPr>
        <p:spPr>
          <a:xfrm>
            <a:off x="6309360" y="1371600"/>
            <a:ext cx="2377440" cy="1417320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309360" y="14630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из 34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446520" y="21031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часов — практика: вождение, первая помощь, акции, проекты</a:t>
            </a:r>
            <a:endParaRPr lang="en-US" sz="1200" dirty="0"/>
          </a:p>
        </p:txBody>
      </p:sp>
      <p:sp>
        <p:nvSpPr>
          <p:cNvPr id="8" name="big-theory"/>
          <p:cNvSpPr/>
          <p:nvPr/>
        </p:nvSpPr>
        <p:spPr>
          <a:xfrm>
            <a:off x="6309360" y="2971800"/>
            <a:ext cx="2377440" cy="1417320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09360" y="30632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B7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ч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446520" y="37033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теория: ПДД, знаки, алгоритмы действий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Права и границы юного инспектора</a:t>
            </a:r>
            <a:endParaRPr lang="en-US" sz="2600" dirty="0"/>
          </a:p>
        </p:txBody>
      </p:sp>
      <p:sp>
        <p:nvSpPr>
          <p:cNvPr id="3" name="can"/>
          <p:cNvSpPr/>
          <p:nvPr/>
        </p:nvSpPr>
        <p:spPr>
          <a:xfrm>
            <a:off x="457200" y="1188720"/>
            <a:ext cx="3977640" cy="3291840"/>
          </a:xfrm>
          <a:prstGeom prst="roundRect">
            <a:avLst>
              <a:gd name="adj" fmla="val 2222"/>
            </a:avLst>
          </a:prstGeom>
          <a:solidFill>
            <a:srgbClr val="F1F8F2"/>
          </a:solidFill>
          <a:ln w="9525">
            <a:solidFill>
              <a:srgbClr val="CFE6D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Юный инспектор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83080"/>
            <a:ext cx="3611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изучает ПДД и проводит игры для младших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раздаёт памятки и светоотражатели на акциях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готовит плакаты, ролики, проекты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участвует в конкурсах и слётах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подаёт пример на дороге</a:t>
            </a:r>
            <a:endParaRPr lang="en-US" sz="1400" dirty="0"/>
          </a:p>
        </p:txBody>
      </p:sp>
      <p:sp>
        <p:nvSpPr>
          <p:cNvPr id="6" name="cannot"/>
          <p:cNvSpPr/>
          <p:nvPr/>
        </p:nvSpPr>
        <p:spPr>
          <a:xfrm>
            <a:off x="4709160" y="1188720"/>
            <a:ext cx="3977640" cy="3291840"/>
          </a:xfrm>
          <a:prstGeom prst="roundRect">
            <a:avLst>
              <a:gd name="adj" fmla="val 2222"/>
            </a:avLst>
          </a:prstGeom>
          <a:solidFill>
            <a:srgbClr val="FDF1F0"/>
          </a:solidFill>
          <a:ln w="9525">
            <a:solidFill>
              <a:srgbClr val="F2C9C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2801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39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Юный инспектор не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783080"/>
            <a:ext cx="3611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регулирует движение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останавливает транспорт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составляет протоколы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 на проезжей части без сотрудника Госавтоинспекции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действует без руководителя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Главные события года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даты — по четвергам; уточняются по школьному календарю</a:t>
            </a:r>
            <a:endParaRPr lang="en-US" sz="1300" dirty="0"/>
          </a:p>
        </p:txBody>
      </p:sp>
      <p:sp>
        <p:nvSpPr>
          <p:cNvPr id="4" name="timeline"/>
          <p:cNvSpPr/>
          <p:nvPr/>
        </p:nvSpPr>
        <p:spPr>
          <a:xfrm>
            <a:off x="731520" y="2148840"/>
            <a:ext cx="7680960" cy="0"/>
          </a:xfrm>
          <a:prstGeom prst="line">
            <a:avLst/>
          </a:prstGeom>
          <a:noFill/>
          <a:ln w="25400">
            <a:solidFill>
              <a:srgbClr val="003D7A"/>
            </a:solidFill>
            <a:prstDash val="solid"/>
          </a:ln>
        </p:spPr>
      </p:sp>
      <p:sp>
        <p:nvSpPr>
          <p:cNvPr id="5" name="dot-0"/>
          <p:cNvSpPr/>
          <p:nvPr/>
        </p:nvSpPr>
        <p:spPr>
          <a:xfrm>
            <a:off x="960120" y="2029968"/>
            <a:ext cx="237744" cy="237744"/>
          </a:xfrm>
          <a:prstGeom prst="ellipse">
            <a:avLst/>
          </a:prstGeom>
          <a:solidFill>
            <a:srgbClr val="003D7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554480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22.10</a:t>
            </a:r>
            <a:endParaRPr lang="en-US" sz="1800" dirty="0"/>
          </a:p>
        </p:txBody>
      </p:sp>
      <p:sp>
        <p:nvSpPr>
          <p:cNvPr id="7" name="ev-card-0"/>
          <p:cNvSpPr/>
          <p:nvPr/>
        </p:nvSpPr>
        <p:spPr>
          <a:xfrm>
            <a:off x="457200" y="2514600"/>
            <a:ext cx="1280160" cy="1554480"/>
          </a:xfrm>
          <a:prstGeom prst="roundRect">
            <a:avLst>
              <a:gd name="adj" fmla="val 5714"/>
            </a:avLst>
          </a:prstGeom>
          <a:solidFill>
            <a:srgbClr val="F5F7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30352" y="2578608"/>
            <a:ext cx="1133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Акция «Стань заметным!»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30352" y="3383280"/>
            <a:ext cx="1133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светоотражатели для пешеходов</a:t>
            </a:r>
            <a:endParaRPr lang="en-US" sz="1100" dirty="0"/>
          </a:p>
        </p:txBody>
      </p:sp>
      <p:sp>
        <p:nvSpPr>
          <p:cNvPr id="10" name="dot-1"/>
          <p:cNvSpPr/>
          <p:nvPr/>
        </p:nvSpPr>
        <p:spPr>
          <a:xfrm>
            <a:off x="2331720" y="2029968"/>
            <a:ext cx="237744" cy="237744"/>
          </a:xfrm>
          <a:prstGeom prst="ellipse">
            <a:avLst/>
          </a:prstGeom>
          <a:solidFill>
            <a:srgbClr val="FFA5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828800" y="1554480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17.12</a:t>
            </a:r>
            <a:endParaRPr lang="en-US" sz="1800" dirty="0"/>
          </a:p>
        </p:txBody>
      </p:sp>
      <p:sp>
        <p:nvSpPr>
          <p:cNvPr id="12" name="ev-card-1"/>
          <p:cNvSpPr/>
          <p:nvPr/>
        </p:nvSpPr>
        <p:spPr>
          <a:xfrm>
            <a:off x="1828800" y="2514600"/>
            <a:ext cx="1280160" cy="1554480"/>
          </a:xfrm>
          <a:prstGeom prst="roundRect">
            <a:avLst>
              <a:gd name="adj" fmla="val 5714"/>
            </a:avLst>
          </a:prstGeom>
          <a:solidFill>
            <a:srgbClr val="F5F7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901952" y="2578608"/>
            <a:ext cx="1133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Зачёт по вождению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901952" y="3383280"/>
            <a:ext cx="1133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фигурное вождение велосипеда</a:t>
            </a:r>
            <a:endParaRPr lang="en-US" sz="1100" dirty="0"/>
          </a:p>
        </p:txBody>
      </p:sp>
      <p:sp>
        <p:nvSpPr>
          <p:cNvPr id="15" name="dot-2"/>
          <p:cNvSpPr/>
          <p:nvPr/>
        </p:nvSpPr>
        <p:spPr>
          <a:xfrm>
            <a:off x="3703320" y="2029968"/>
            <a:ext cx="237744" cy="237744"/>
          </a:xfrm>
          <a:prstGeom prst="ellipse">
            <a:avLst/>
          </a:prstGeom>
          <a:solidFill>
            <a:srgbClr val="003D7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200400" y="1554480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11.02</a:t>
            </a:r>
            <a:endParaRPr lang="en-US" sz="1800" dirty="0"/>
          </a:p>
        </p:txBody>
      </p:sp>
      <p:sp>
        <p:nvSpPr>
          <p:cNvPr id="17" name="ev-card-2"/>
          <p:cNvSpPr/>
          <p:nvPr/>
        </p:nvSpPr>
        <p:spPr>
          <a:xfrm>
            <a:off x="3200400" y="2514600"/>
            <a:ext cx="1280160" cy="1554480"/>
          </a:xfrm>
          <a:prstGeom prst="roundRect">
            <a:avLst>
              <a:gd name="adj" fmla="val 5714"/>
            </a:avLst>
          </a:prstGeom>
          <a:solidFill>
            <a:srgbClr val="F5F7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273552" y="2578608"/>
            <a:ext cx="1133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Зачёт по первой помощи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273552" y="3383280"/>
            <a:ext cx="1133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ролевая игра «ДТП на дороге»</a:t>
            </a:r>
            <a:endParaRPr lang="en-US" sz="1100" dirty="0"/>
          </a:p>
        </p:txBody>
      </p:sp>
      <p:sp>
        <p:nvSpPr>
          <p:cNvPr id="20" name="dot-3"/>
          <p:cNvSpPr/>
          <p:nvPr/>
        </p:nvSpPr>
        <p:spPr>
          <a:xfrm>
            <a:off x="5074920" y="2029968"/>
            <a:ext cx="237744" cy="237744"/>
          </a:xfrm>
          <a:prstGeom prst="ellipse">
            <a:avLst/>
          </a:prstGeom>
          <a:solidFill>
            <a:srgbClr val="FFA5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0" y="1554480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01.04</a:t>
            </a:r>
            <a:endParaRPr lang="en-US" sz="1800" dirty="0"/>
          </a:p>
        </p:txBody>
      </p:sp>
      <p:sp>
        <p:nvSpPr>
          <p:cNvPr id="22" name="ev-card-3"/>
          <p:cNvSpPr/>
          <p:nvPr/>
        </p:nvSpPr>
        <p:spPr>
          <a:xfrm>
            <a:off x="4572000" y="2514600"/>
            <a:ext cx="1280160" cy="1554480"/>
          </a:xfrm>
          <a:prstGeom prst="roundRect">
            <a:avLst>
              <a:gd name="adj" fmla="val 5714"/>
            </a:avLst>
          </a:prstGeom>
          <a:solidFill>
            <a:srgbClr val="F5F7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645152" y="2578608"/>
            <a:ext cx="1133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Акция «Пристегнись!»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645152" y="3383280"/>
            <a:ext cx="1133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совместно с ГИБДД</a:t>
            </a:r>
            <a:endParaRPr lang="en-US" sz="1100" dirty="0"/>
          </a:p>
        </p:txBody>
      </p:sp>
      <p:sp>
        <p:nvSpPr>
          <p:cNvPr id="25" name="dot-4"/>
          <p:cNvSpPr/>
          <p:nvPr/>
        </p:nvSpPr>
        <p:spPr>
          <a:xfrm>
            <a:off x="6446520" y="2029968"/>
            <a:ext cx="237744" cy="237744"/>
          </a:xfrm>
          <a:prstGeom prst="ellipse">
            <a:avLst/>
          </a:prstGeom>
          <a:solidFill>
            <a:srgbClr val="003D7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943600" y="1554480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22.04</a:t>
            </a:r>
            <a:endParaRPr lang="en-US" sz="1800" dirty="0"/>
          </a:p>
        </p:txBody>
      </p:sp>
      <p:sp>
        <p:nvSpPr>
          <p:cNvPr id="27" name="ev-card-4"/>
          <p:cNvSpPr/>
          <p:nvPr/>
        </p:nvSpPr>
        <p:spPr>
          <a:xfrm>
            <a:off x="5943600" y="2514600"/>
            <a:ext cx="1280160" cy="1554480"/>
          </a:xfrm>
          <a:prstGeom prst="roundRect">
            <a:avLst>
              <a:gd name="adj" fmla="val 5714"/>
            </a:avLst>
          </a:prstGeom>
          <a:solidFill>
            <a:srgbClr val="F5F7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016752" y="2578608"/>
            <a:ext cx="1133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Соревнование «Безопасное колесо»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016752" y="3383280"/>
            <a:ext cx="1133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отбор команды на муниципальный этап</a:t>
            </a:r>
            <a:endParaRPr lang="en-US" sz="1100" dirty="0"/>
          </a:p>
        </p:txBody>
      </p:sp>
      <p:sp>
        <p:nvSpPr>
          <p:cNvPr id="30" name="dot-5"/>
          <p:cNvSpPr/>
          <p:nvPr/>
        </p:nvSpPr>
        <p:spPr>
          <a:xfrm>
            <a:off x="7818120" y="2029968"/>
            <a:ext cx="237744" cy="237744"/>
          </a:xfrm>
          <a:prstGeom prst="ellipse">
            <a:avLst/>
          </a:prstGeom>
          <a:solidFill>
            <a:srgbClr val="FFA5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315200" y="1554480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13.05</a:t>
            </a:r>
            <a:endParaRPr lang="en-US" sz="1800" dirty="0"/>
          </a:p>
        </p:txBody>
      </p:sp>
      <p:sp>
        <p:nvSpPr>
          <p:cNvPr id="32" name="ev-card-5"/>
          <p:cNvSpPr/>
          <p:nvPr/>
        </p:nvSpPr>
        <p:spPr>
          <a:xfrm>
            <a:off x="7315200" y="2514600"/>
            <a:ext cx="1280160" cy="1554480"/>
          </a:xfrm>
          <a:prstGeom prst="roundRect">
            <a:avLst>
              <a:gd name="adj" fmla="val 5714"/>
            </a:avLst>
          </a:prstGeom>
          <a:solidFill>
            <a:srgbClr val="F5F7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388352" y="2578608"/>
            <a:ext cx="1133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 проектов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7388352" y="3383280"/>
            <a:ext cx="1133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«Безопасный маршрут у школы»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Подготовка к «Безопасному колесу»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Командный конкурс юных инспекторов — наша главная цель весны</a:t>
            </a:r>
            <a:endParaRPr lang="en-US" sz="1300" dirty="0"/>
          </a:p>
        </p:txBody>
      </p:sp>
      <p:sp>
        <p:nvSpPr>
          <p:cNvPr id="4" name="stage-0"/>
          <p:cNvSpPr/>
          <p:nvPr/>
        </p:nvSpPr>
        <p:spPr>
          <a:xfrm>
            <a:off x="457200" y="1417320"/>
            <a:ext cx="1554480" cy="2103120"/>
          </a:xfrm>
          <a:prstGeom prst="roundRect">
            <a:avLst>
              <a:gd name="adj" fmla="val 4706"/>
            </a:avLst>
          </a:prstGeom>
          <a:solidFill>
            <a:srgbClr val="F5F7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5" name="stage-bg-0"/>
          <p:cNvSpPr/>
          <p:nvPr/>
        </p:nvSpPr>
        <p:spPr>
          <a:xfrm>
            <a:off x="868680" y="1600200"/>
            <a:ext cx="731520" cy="731520"/>
          </a:xfrm>
          <a:prstGeom prst="ellipse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pic>
        <p:nvPicPr>
          <p:cNvPr id="6" name="stage-ic-0" descr="Знатоки ПД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7830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30352" y="2468880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Знатоки ПДД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30352" y="297180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билеты и задачи</a:t>
            </a:r>
            <a:endParaRPr lang="en-US" sz="1150" dirty="0"/>
          </a:p>
        </p:txBody>
      </p:sp>
      <p:sp>
        <p:nvSpPr>
          <p:cNvPr id="9" name="stage-1"/>
          <p:cNvSpPr/>
          <p:nvPr/>
        </p:nvSpPr>
        <p:spPr>
          <a:xfrm>
            <a:off x="2121408" y="1417320"/>
            <a:ext cx="1554480" cy="2103120"/>
          </a:xfrm>
          <a:prstGeom prst="roundRect">
            <a:avLst>
              <a:gd name="adj" fmla="val 4706"/>
            </a:avLst>
          </a:prstGeom>
          <a:solidFill>
            <a:srgbClr val="F5F7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10" name="stage-bg-1"/>
          <p:cNvSpPr/>
          <p:nvPr/>
        </p:nvSpPr>
        <p:spPr>
          <a:xfrm>
            <a:off x="2532888" y="1600200"/>
            <a:ext cx="731520" cy="731520"/>
          </a:xfrm>
          <a:prstGeom prst="ellipse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pic>
        <p:nvPicPr>
          <p:cNvPr id="11" name="stage-ic-1" descr="Первая помощь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5768" y="178308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194560" y="2468880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Первая помощь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2194560" y="297180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 и приёмы</a:t>
            </a:r>
            <a:endParaRPr lang="en-US" sz="1150" dirty="0"/>
          </a:p>
        </p:txBody>
      </p:sp>
      <p:sp>
        <p:nvSpPr>
          <p:cNvPr id="14" name="stage-2"/>
          <p:cNvSpPr/>
          <p:nvPr/>
        </p:nvSpPr>
        <p:spPr>
          <a:xfrm>
            <a:off x="3785616" y="1417320"/>
            <a:ext cx="1554480" cy="2103120"/>
          </a:xfrm>
          <a:prstGeom prst="roundRect">
            <a:avLst>
              <a:gd name="adj" fmla="val 4706"/>
            </a:avLst>
          </a:prstGeom>
          <a:solidFill>
            <a:srgbClr val="F5F7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15" name="stage-bg-2"/>
          <p:cNvSpPr/>
          <p:nvPr/>
        </p:nvSpPr>
        <p:spPr>
          <a:xfrm>
            <a:off x="4197096" y="1600200"/>
            <a:ext cx="731520" cy="731520"/>
          </a:xfrm>
          <a:prstGeom prst="ellipse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pic>
        <p:nvPicPr>
          <p:cNvPr id="16" name="stage-ic-2" descr="Автогородок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9976" y="178308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858768" y="2468880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Автогородок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3858768" y="297180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перекрёстки и знаки</a:t>
            </a:r>
            <a:endParaRPr lang="en-US" sz="1150" dirty="0"/>
          </a:p>
        </p:txBody>
      </p:sp>
      <p:sp>
        <p:nvSpPr>
          <p:cNvPr id="19" name="stage-3"/>
          <p:cNvSpPr/>
          <p:nvPr/>
        </p:nvSpPr>
        <p:spPr>
          <a:xfrm>
            <a:off x="5449824" y="1417320"/>
            <a:ext cx="1554480" cy="2103120"/>
          </a:xfrm>
          <a:prstGeom prst="roundRect">
            <a:avLst>
              <a:gd name="adj" fmla="val 4706"/>
            </a:avLst>
          </a:prstGeom>
          <a:solidFill>
            <a:srgbClr val="F5F7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20" name="stage-bg-3"/>
          <p:cNvSpPr/>
          <p:nvPr/>
        </p:nvSpPr>
        <p:spPr>
          <a:xfrm>
            <a:off x="5861304" y="1600200"/>
            <a:ext cx="731520" cy="731520"/>
          </a:xfrm>
          <a:prstGeom prst="ellipse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pic>
        <p:nvPicPr>
          <p:cNvPr id="21" name="stage-ic-3" descr="Фигурное вождение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4184" y="178308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522976" y="2468880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Фигурное вождение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5522976" y="297180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трасса с препятствиями</a:t>
            </a:r>
            <a:endParaRPr lang="en-US" sz="1150" dirty="0"/>
          </a:p>
        </p:txBody>
      </p:sp>
      <p:sp>
        <p:nvSpPr>
          <p:cNvPr id="24" name="stage-4"/>
          <p:cNvSpPr/>
          <p:nvPr/>
        </p:nvSpPr>
        <p:spPr>
          <a:xfrm>
            <a:off x="7114032" y="1417320"/>
            <a:ext cx="1554480" cy="2103120"/>
          </a:xfrm>
          <a:prstGeom prst="roundRect">
            <a:avLst>
              <a:gd name="adj" fmla="val 4706"/>
            </a:avLst>
          </a:prstGeom>
          <a:solidFill>
            <a:srgbClr val="F5F7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25" name="stage-bg-4"/>
          <p:cNvSpPr/>
          <p:nvPr/>
        </p:nvSpPr>
        <p:spPr>
          <a:xfrm>
            <a:off x="7525512" y="1600200"/>
            <a:ext cx="731520" cy="731520"/>
          </a:xfrm>
          <a:prstGeom prst="ellipse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pic>
        <p:nvPicPr>
          <p:cNvPr id="26" name="stage-ic-4" descr="Творчество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8392" y="178308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187184" y="2468880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Творчество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7187184" y="297180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агитбригада, плакат</a:t>
            </a:r>
            <a:endParaRPr lang="en-US" sz="1150" dirty="0"/>
          </a:p>
        </p:txBody>
      </p:sp>
      <p:sp>
        <p:nvSpPr>
          <p:cNvPr id="29" name="wheel-banner"/>
          <p:cNvSpPr/>
          <p:nvPr/>
        </p:nvSpPr>
        <p:spPr>
          <a:xfrm>
            <a:off x="457200" y="37490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685800" y="3767328"/>
            <a:ext cx="7772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 — 4 человека (две девушки и два юноши). Этапы и правила уточняются по положению конкурса текущего года.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Первая помощь на месте ДТП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Алгоритм, который мы отрабатываем на занятиях</a:t>
            </a:r>
            <a:endParaRPr lang="en-US" sz="1300" dirty="0"/>
          </a:p>
        </p:txBody>
      </p:sp>
      <p:sp>
        <p:nvSpPr>
          <p:cNvPr id="4" name="step-1"/>
          <p:cNvSpPr/>
          <p:nvPr/>
        </p:nvSpPr>
        <p:spPr>
          <a:xfrm>
            <a:off x="457200" y="1325880"/>
            <a:ext cx="8229600" cy="694944"/>
          </a:xfrm>
          <a:prstGeom prst="roundRect">
            <a:avLst>
              <a:gd name="adj" fmla="val 10526"/>
            </a:avLst>
          </a:prstGeom>
          <a:solidFill>
            <a:srgbClr val="F5F7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5" name="step-n-1"/>
          <p:cNvSpPr/>
          <p:nvPr/>
        </p:nvSpPr>
        <p:spPr>
          <a:xfrm>
            <a:off x="594360" y="1435608"/>
            <a:ext cx="475488" cy="475488"/>
          </a:xfrm>
          <a:prstGeom prst="ellipse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4356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325880"/>
            <a:ext cx="2286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Безопасность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1325880"/>
            <a:ext cx="4937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оцени обстановку, не рискуй собой</a:t>
            </a:r>
            <a:endParaRPr lang="en-US" sz="1400" dirty="0"/>
          </a:p>
        </p:txBody>
      </p:sp>
      <p:sp>
        <p:nvSpPr>
          <p:cNvPr id="9" name="step-2"/>
          <p:cNvSpPr/>
          <p:nvPr/>
        </p:nvSpPr>
        <p:spPr>
          <a:xfrm>
            <a:off x="457200" y="2130552"/>
            <a:ext cx="8229600" cy="694944"/>
          </a:xfrm>
          <a:prstGeom prst="roundRect">
            <a:avLst>
              <a:gd name="adj" fmla="val 10526"/>
            </a:avLst>
          </a:prstGeom>
          <a:solidFill>
            <a:srgbClr val="F5F7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10" name="step-n-2"/>
          <p:cNvSpPr/>
          <p:nvPr/>
        </p:nvSpPr>
        <p:spPr>
          <a:xfrm>
            <a:off x="594360" y="2240280"/>
            <a:ext cx="475488" cy="475488"/>
          </a:xfrm>
          <a:prstGeom prst="ellipse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22402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130552"/>
            <a:ext cx="2286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Вызов помощи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2130552"/>
            <a:ext cx="4937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 или 103, назови место и что случилось</a:t>
            </a:r>
            <a:endParaRPr lang="en-US" sz="1400" dirty="0"/>
          </a:p>
        </p:txBody>
      </p:sp>
      <p:sp>
        <p:nvSpPr>
          <p:cNvPr id="14" name="step-3"/>
          <p:cNvSpPr/>
          <p:nvPr/>
        </p:nvSpPr>
        <p:spPr>
          <a:xfrm>
            <a:off x="457200" y="2935224"/>
            <a:ext cx="8229600" cy="694944"/>
          </a:xfrm>
          <a:prstGeom prst="roundRect">
            <a:avLst>
              <a:gd name="adj" fmla="val 10526"/>
            </a:avLst>
          </a:prstGeom>
          <a:solidFill>
            <a:srgbClr val="F5F7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15" name="step-n-3"/>
          <p:cNvSpPr/>
          <p:nvPr/>
        </p:nvSpPr>
        <p:spPr>
          <a:xfrm>
            <a:off x="594360" y="3044952"/>
            <a:ext cx="475488" cy="475488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30449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2935224"/>
            <a:ext cx="2286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Помощь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3566160" y="2935224"/>
            <a:ext cx="4937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кровотечение, дыхание, иммобилизация — по алгоритму</a:t>
            </a:r>
            <a:endParaRPr lang="en-US" sz="1400" dirty="0"/>
          </a:p>
        </p:txBody>
      </p:sp>
      <p:sp>
        <p:nvSpPr>
          <p:cNvPr id="19" name="step-4"/>
          <p:cNvSpPr/>
          <p:nvPr/>
        </p:nvSpPr>
        <p:spPr>
          <a:xfrm>
            <a:off x="457200" y="3739896"/>
            <a:ext cx="8229600" cy="694944"/>
          </a:xfrm>
          <a:prstGeom prst="roundRect">
            <a:avLst>
              <a:gd name="adj" fmla="val 10526"/>
            </a:avLst>
          </a:prstGeom>
          <a:solidFill>
            <a:srgbClr val="F5F7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20" name="step-n-4"/>
          <p:cNvSpPr/>
          <p:nvPr/>
        </p:nvSpPr>
        <p:spPr>
          <a:xfrm>
            <a:off x="594360" y="3849624"/>
            <a:ext cx="475488" cy="475488"/>
          </a:xfrm>
          <a:prstGeom prst="ellipse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38496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3739896"/>
            <a:ext cx="2286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Наблюдение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3566160" y="3739896"/>
            <a:ext cx="4937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оставайся с пострадавшим до приезда служб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Правила безопасности на занятиях</a:t>
            </a:r>
            <a:endParaRPr lang="en-US" sz="2600" dirty="0"/>
          </a:p>
        </p:txBody>
      </p:sp>
      <p:sp>
        <p:nvSpPr>
          <p:cNvPr id="3" name="safe-0"/>
          <p:cNvSpPr/>
          <p:nvPr/>
        </p:nvSpPr>
        <p:spPr>
          <a:xfrm>
            <a:off x="457200" y="118872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5F7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4" name="safe-bg-0"/>
          <p:cNvSpPr/>
          <p:nvPr/>
        </p:nvSpPr>
        <p:spPr>
          <a:xfrm>
            <a:off x="685800" y="1600200"/>
            <a:ext cx="685800" cy="685800"/>
          </a:xfrm>
          <a:prstGeom prst="ellipse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pic>
        <p:nvPicPr>
          <p:cNvPr id="5" name="safe-ic-0" descr="Шлем и жилет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764792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4173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Шлем и жилет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18745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вождении и акциях — обязательны</a:t>
            </a:r>
            <a:endParaRPr lang="en-US" sz="1300" dirty="0"/>
          </a:p>
        </p:txBody>
      </p:sp>
      <p:sp>
        <p:nvSpPr>
          <p:cNvPr id="8" name="safe-1"/>
          <p:cNvSpPr/>
          <p:nvPr/>
        </p:nvSpPr>
        <p:spPr>
          <a:xfrm>
            <a:off x="4663440" y="118872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5F7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9" name="safe-bg-1"/>
          <p:cNvSpPr/>
          <p:nvPr/>
        </p:nvSpPr>
        <p:spPr>
          <a:xfrm>
            <a:off x="4892040" y="1600200"/>
            <a:ext cx="685800" cy="685800"/>
          </a:xfrm>
          <a:prstGeom prst="ellipse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pic>
        <p:nvPicPr>
          <p:cNvPr id="10" name="safe-ic-1" descr="Инструктаж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6632" y="1764792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760720" y="14173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Инструктаж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5760720" y="18745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 каждым практическим занятием</a:t>
            </a:r>
            <a:endParaRPr lang="en-US" sz="1300" dirty="0"/>
          </a:p>
        </p:txBody>
      </p:sp>
      <p:sp>
        <p:nvSpPr>
          <p:cNvPr id="13" name="safe-2"/>
          <p:cNvSpPr/>
          <p:nvPr/>
        </p:nvSpPr>
        <p:spPr>
          <a:xfrm>
            <a:off x="457200" y="288036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5F7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14" name="safe-bg-2"/>
          <p:cNvSpPr/>
          <p:nvPr/>
        </p:nvSpPr>
        <p:spPr>
          <a:xfrm>
            <a:off x="685800" y="3291840"/>
            <a:ext cx="685800" cy="685800"/>
          </a:xfrm>
          <a:prstGeom prst="ellipse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pic>
        <p:nvPicPr>
          <p:cNvPr id="15" name="safe-ic-2" descr="Только вместе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3456432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554480" y="31089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Только вместе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1554480" y="35661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 на улицу — с руководителем и сотрудником ГИБДД</a:t>
            </a:r>
            <a:endParaRPr lang="en-US" sz="1300" dirty="0"/>
          </a:p>
        </p:txBody>
      </p:sp>
      <p:sp>
        <p:nvSpPr>
          <p:cNvPr id="18" name="safe-3"/>
          <p:cNvSpPr/>
          <p:nvPr/>
        </p:nvSpPr>
        <p:spPr>
          <a:xfrm>
            <a:off x="4663440" y="288036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5F7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19" name="safe-bg-3"/>
          <p:cNvSpPr/>
          <p:nvPr/>
        </p:nvSpPr>
        <p:spPr>
          <a:xfrm>
            <a:off x="4892040" y="3291840"/>
            <a:ext cx="685800" cy="685800"/>
          </a:xfrm>
          <a:prstGeom prst="ellipse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pic>
        <p:nvPicPr>
          <p:cNvPr id="20" name="safe-ic-3" descr="Погода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6632" y="3456432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760720" y="31089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Погода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5760720" y="35661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гололёд, ветер, дождь — переносим в зал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мы оцениваем результат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«двоек»: важны знания, умения и участие</a:t>
            </a:r>
            <a:endParaRPr lang="en-US" sz="1300" dirty="0"/>
          </a:p>
        </p:txBody>
      </p:sp>
      <p:sp>
        <p:nvSpPr>
          <p:cNvPr id="4" name="level-0"/>
          <p:cNvSpPr/>
          <p:nvPr/>
        </p:nvSpPr>
        <p:spPr>
          <a:xfrm>
            <a:off x="457200" y="141732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5" name="level-top-0"/>
          <p:cNvSpPr/>
          <p:nvPr/>
        </p:nvSpPr>
        <p:spPr>
          <a:xfrm>
            <a:off x="457200" y="1417320"/>
            <a:ext cx="2651760" cy="9144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600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Высокий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0116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CAF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85–100 %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6060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уверенно знает и умеет, помогает другим</a:t>
            </a:r>
            <a:endParaRPr lang="en-US" sz="1250" dirty="0"/>
          </a:p>
        </p:txBody>
      </p:sp>
      <p:sp>
        <p:nvSpPr>
          <p:cNvPr id="9" name="level-1"/>
          <p:cNvSpPr/>
          <p:nvPr/>
        </p:nvSpPr>
        <p:spPr>
          <a:xfrm>
            <a:off x="3246120" y="141732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10" name="level-top-1"/>
          <p:cNvSpPr/>
          <p:nvPr/>
        </p:nvSpPr>
        <p:spPr>
          <a:xfrm>
            <a:off x="3246120" y="1417320"/>
            <a:ext cx="2651760" cy="91440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46120" y="1600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Средний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246120" y="20116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26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60–84 %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26060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знания сформированы, есть отдельные ошибки</a:t>
            </a:r>
            <a:endParaRPr lang="en-US" sz="1250" dirty="0"/>
          </a:p>
        </p:txBody>
      </p:sp>
      <p:sp>
        <p:nvSpPr>
          <p:cNvPr id="14" name="level-2"/>
          <p:cNvSpPr/>
          <p:nvPr/>
        </p:nvSpPr>
        <p:spPr>
          <a:xfrm>
            <a:off x="6035040" y="141732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15" name="level-top-2"/>
          <p:cNvSpPr/>
          <p:nvPr/>
        </p:nvSpPr>
        <p:spPr>
          <a:xfrm>
            <a:off x="6035040" y="1417320"/>
            <a:ext cx="2651760" cy="9144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35040" y="1600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Базовый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0" y="20116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539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60 %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26060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повторяем тему с наставником, пересдача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520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Формы контроля: 4 теста, зачёты по вождению и первой помощи, защита проекта, внутришкольное соревнование, портфолио достижений.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вступить в отряд</a:t>
            </a:r>
            <a:endParaRPr lang="en-US" sz="2600" dirty="0"/>
          </a:p>
        </p:txBody>
      </p:sp>
      <p:sp>
        <p:nvSpPr>
          <p:cNvPr id="3" name="join-1"/>
          <p:cNvSpPr/>
          <p:nvPr/>
        </p:nvSpPr>
        <p:spPr>
          <a:xfrm>
            <a:off x="457200" y="1325880"/>
            <a:ext cx="1920240" cy="2103120"/>
          </a:xfrm>
          <a:prstGeom prst="roundRect">
            <a:avLst>
              <a:gd name="adj" fmla="val 3810"/>
            </a:avLst>
          </a:prstGeom>
          <a:solidFill>
            <a:srgbClr val="F5F7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4173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Заявление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6060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напиши заявление на имя руководителя</a:t>
            </a:r>
            <a:endParaRPr lang="en-US" sz="1200" dirty="0"/>
          </a:p>
        </p:txBody>
      </p:sp>
      <p:sp>
        <p:nvSpPr>
          <p:cNvPr id="7" name="join-2"/>
          <p:cNvSpPr/>
          <p:nvPr/>
        </p:nvSpPr>
        <p:spPr>
          <a:xfrm>
            <a:off x="2542032" y="1325880"/>
            <a:ext cx="1920240" cy="2103120"/>
          </a:xfrm>
          <a:prstGeom prst="roundRect">
            <a:avLst>
              <a:gd name="adj" fmla="val 3810"/>
            </a:avLst>
          </a:prstGeom>
          <a:solidFill>
            <a:srgbClr val="F5F7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42032" y="14173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2633472" y="2103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Согласие родителей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2679192" y="26060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письменное, в том числе на фото и акции</a:t>
            </a:r>
            <a:endParaRPr lang="en-US" sz="1200" dirty="0"/>
          </a:p>
        </p:txBody>
      </p:sp>
      <p:sp>
        <p:nvSpPr>
          <p:cNvPr id="11" name="join-3"/>
          <p:cNvSpPr/>
          <p:nvPr/>
        </p:nvSpPr>
        <p:spPr>
          <a:xfrm>
            <a:off x="4626864" y="1325880"/>
            <a:ext cx="1920240" cy="2103120"/>
          </a:xfrm>
          <a:prstGeom prst="roundRect">
            <a:avLst>
              <a:gd name="adj" fmla="val 3810"/>
            </a:avLst>
          </a:prstGeom>
          <a:solidFill>
            <a:srgbClr val="F5F7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26864" y="14173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718304" y="2103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Знакомство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764024" y="26060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Положением и правилами безопасности</a:t>
            </a:r>
            <a:endParaRPr lang="en-US" sz="1200" dirty="0"/>
          </a:p>
        </p:txBody>
      </p:sp>
      <p:sp>
        <p:nvSpPr>
          <p:cNvPr id="15" name="join-4"/>
          <p:cNvSpPr/>
          <p:nvPr/>
        </p:nvSpPr>
        <p:spPr>
          <a:xfrm>
            <a:off x="6711696" y="1325880"/>
            <a:ext cx="1920240" cy="2103120"/>
          </a:xfrm>
          <a:prstGeom prst="roundRect">
            <a:avLst>
              <a:gd name="adj" fmla="val 3810"/>
            </a:avLst>
          </a:prstGeom>
          <a:solidFill>
            <a:srgbClr val="F5F7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11696" y="14173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539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6803136" y="2103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Обещание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6848856" y="26060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первом сборе — Обещание юного инспектора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Бланки заявления и согласия — в «Положении об отряде ЮИД» на странице ЮИД сайта.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801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Присоединяйся к ЮИД!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317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Занятия по четвергам в 17.00, кабинет № 210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1089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Сайт: demin-obzr.ru · страница «ЮИД»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4805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материалов подготовлена с помощью ИИ и проверена педагогом.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ЮИД 2026">
  <a:themeElements>
    <a:clrScheme name="ЮИД 2026">
      <a:dk1>
        <a:srgbClr val="1F2A37"/>
      </a:dk1>
      <a:lt1>
        <a:srgbClr val="FFFFFF"/>
      </a:lt1>
      <a:dk2>
        <a:srgbClr val="003D7A"/>
      </a:dk2>
      <a:lt2>
        <a:srgbClr val="F5F7FA"/>
      </a:lt2>
      <a:accent1>
        <a:srgbClr val="003D7A"/>
      </a:accent1>
      <a:accent2>
        <a:srgbClr val="E53935"/>
      </a:accent2>
      <a:accent3>
        <a:srgbClr val="FFA500"/>
      </a:accent3>
      <a:accent4>
        <a:srgbClr val="4CAF50"/>
      </a:accent4>
      <a:accent5>
        <a:srgbClr val="00518A"/>
      </a:accent5>
      <a:accent6>
        <a:srgbClr val="7F8C8D"/>
      </a:accent6>
      <a:hlink>
        <a:srgbClr val="003D7A"/>
      </a:hlink>
      <a:folHlink>
        <a:srgbClr val="7F8C8D"/>
      </a:folHlink>
    </a:clrScheme>
    <a:fontScheme name="ЮИД 2026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Отряд ЮИД 2026–2027</dc:title>
  <dc:subject>PptxGenJS Presentation</dc:subject>
  <dc:creator>Дёмин А. Ю.</dc:creator>
  <cp:lastModifiedBy>Дёмин А. Ю.</cp:lastModifiedBy>
  <cp:revision>1</cp:revision>
  <dcterms:created xsi:type="dcterms:W3CDTF">2026-10-26T10:29:49Z</dcterms:created>
  <dcterms:modified xsi:type="dcterms:W3CDTF">2026-10-26T10:29:49Z</dcterms:modified>
</cp:coreProperties>
</file>