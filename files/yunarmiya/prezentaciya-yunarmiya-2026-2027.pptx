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Теория</c:v>
                </c:pt>
              </c:strCache>
            </c:strRef>
          </c:tx>
          <c:spPr>
            <a:solidFill>
              <a:srgbClr val="6B7B8C"/>
            </a:solidFill>
            <a:effectLst/>
          </c:spPr>
          <c:invertIfNegative val="0"/>
          <c:dLbls>
            <c:numFmt formatCode="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Раздел I</c:v>
                  </c:pt>
                  <c:pt idx="1">
                    <c:v>Раздел II</c:v>
                  </c:pt>
                  <c:pt idx="2">
                    <c:v>Раздел III</c:v>
                  </c:pt>
                  <c:pt idx="3">
                    <c:v>Раздел IV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3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Практика</c:v>
                </c:pt>
              </c:strCache>
            </c:strRef>
          </c:tx>
          <c:spPr>
            <a:solidFill>
              <a:srgbClr val="003D7A"/>
            </a:solidFill>
            <a:effectLst/>
          </c:spPr>
          <c:invertIfNegative val="0"/>
          <c:dLbls>
            <c:numFmt formatCode="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Раздел I</c:v>
                  </c:pt>
                  <c:pt idx="1">
                    <c:v>Раздел II</c:v>
                  </c:pt>
                  <c:pt idx="2">
                    <c:v>Раздел III</c:v>
                  </c:pt>
                  <c:pt idx="3">
                    <c:v>Раздел IV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6</c:v>
                </c:pt>
                <c:pt idx="2">
                  <c:v>2</c:v>
                </c:pt>
                <c:pt idx="3">
                  <c:v>4</c:v>
                </c:pt>
              </c:numCache>
            </c:numRef>
          </c:val>
        </c:ser>
        <c:dLbls>
          <c:numFmt formatCode="0;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</c:scaling>
        <c:delete val="0"/>
        <c:axPos val="l"/>
        <c:majorGridlines>
          <c:spPr>
            <a:ln w="6350" cap="flat">
              <a:solidFill>
                <a:srgbClr val="E6EB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6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Представьтесь, расскажите о движении и об отряде «Вымпел».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 общих сведений — официальные материалы движения и Устав ВВПОД «ЮНАРМИЯ» (документ размещён на странице отряда).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I — 16 часов: строевая 4, огневая 4, уставы 2, топография 2, ЧС и первая помощь 4. Раздел II — 9: ФП 5, военно-спортивные игры 2, туризм 2. Раздел III — 3 часа. Раздел IV — 6: исследовательская деятельность 4, краеведение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Подробности, таблица результатов и фото — на странице «Зарница 2.0» сайта. Структура соревнований и категории приведены по материалам страницы; уточняйте по положению текущего года.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Перечень состояний и мероприятий по первой помощи — приказ Минздрава России от 03.05.2024 № 220н. СЛР — только на тренажёре.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3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Юнармия · отряд «Вымпел» · МБОУ СШ № 2 г. Лысково · 2026–2027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Дополнительная общеразвивающая программа · 2026–2027 учебный год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Юнармия. Отряд «Вымпел»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B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Служим Отечеству — учимся, тренируемся, помним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34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Дёмин А. Ю. · МБОУ СШ № 2 г. Лысково</a:t>
            </a:r>
            <a:endParaRPr lang="en-US" sz="1200" dirty="0"/>
          </a:p>
        </p:txBody>
      </p:sp>
      <p:sp>
        <p:nvSpPr>
          <p:cNvPr id="6" name="cover-logo-plate"/>
          <p:cNvSpPr/>
          <p:nvPr/>
        </p:nvSpPr>
        <p:spPr>
          <a:xfrm>
            <a:off x="6492240" y="1097280"/>
            <a:ext cx="219456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cover-logo" descr="Эмблема Юнарми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325880"/>
            <a:ext cx="1828800" cy="1655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«Юнармия»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Всероссийское детско-юношеское военно-патриотическое общественное движение</a:t>
            </a:r>
            <a:endParaRPr lang="en-US" sz="1300" dirty="0"/>
          </a:p>
        </p:txBody>
      </p:sp>
      <p:sp>
        <p:nvSpPr>
          <p:cNvPr id="4" name="fact-0"/>
          <p:cNvSpPr/>
          <p:nvPr/>
        </p:nvSpPr>
        <p:spPr>
          <a:xfrm>
            <a:off x="457200" y="141732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создания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инициативе министра обороны РФ С. К. Шойгу</a:t>
            </a:r>
            <a:endParaRPr lang="en-US" sz="1250" dirty="0"/>
          </a:p>
        </p:txBody>
      </p:sp>
      <p:sp>
        <p:nvSpPr>
          <p:cNvPr id="8" name="fact-1"/>
          <p:cNvSpPr/>
          <p:nvPr/>
        </p:nvSpPr>
        <p:spPr>
          <a:xfrm>
            <a:off x="3246120" y="141732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5544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8–18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вступить может любой желающий; до 14 лет — заявление родителей</a:t>
            </a:r>
            <a:endParaRPr lang="en-US" sz="1250" dirty="0"/>
          </a:p>
        </p:txBody>
      </p:sp>
      <p:sp>
        <p:nvSpPr>
          <p:cNvPr id="12" name="fact-2"/>
          <p:cNvSpPr/>
          <p:nvPr/>
        </p:nvSpPr>
        <p:spPr>
          <a:xfrm>
            <a:off x="6035040" y="141732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15544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Отряды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школах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юнармейские отряды работают в образовательных организациях</a:t>
            </a:r>
            <a:endParaRPr lang="en-US" sz="1250" dirty="0"/>
          </a:p>
        </p:txBody>
      </p:sp>
      <p:sp>
        <p:nvSpPr>
          <p:cNvPr id="16" name="goal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639312"/>
            <a:ext cx="77724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движения — формирование у молодёжи готовности к выполнению гражданского долга и конституционных обязанностей по защите Отечества.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Наш отряд «Вымпел»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Действует в школе с 2025 года</a:t>
            </a:r>
            <a:endParaRPr lang="en-US" sz="1300" dirty="0"/>
          </a:p>
        </p:txBody>
      </p:sp>
      <p:sp>
        <p:nvSpPr>
          <p:cNvPr id="4" name="stat-0"/>
          <p:cNvSpPr/>
          <p:nvPr/>
        </p:nvSpPr>
        <p:spPr>
          <a:xfrm>
            <a:off x="457200" y="141732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классы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5176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участники отряда</a:t>
            </a:r>
            <a:endParaRPr lang="en-US" sz="1200" dirty="0"/>
          </a:p>
        </p:txBody>
      </p:sp>
      <p:sp>
        <p:nvSpPr>
          <p:cNvPr id="8" name="stat-1"/>
          <p:cNvSpPr/>
          <p:nvPr/>
        </p:nvSpPr>
        <p:spPr>
          <a:xfrm>
            <a:off x="2542032" y="141732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42032" y="1554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2542032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часа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65176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на 2026–2027 год</a:t>
            </a:r>
            <a:endParaRPr lang="en-US" sz="1200" dirty="0"/>
          </a:p>
        </p:txBody>
      </p:sp>
      <p:sp>
        <p:nvSpPr>
          <p:cNvPr id="12" name="stat-2"/>
          <p:cNvSpPr/>
          <p:nvPr/>
        </p:nvSpPr>
        <p:spPr>
          <a:xfrm>
            <a:off x="4626864" y="141732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26864" y="1554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Вт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17.00–17.40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36592" y="265176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спортзал и кабинет отряда</a:t>
            </a:r>
            <a:endParaRPr lang="en-US" sz="1200" dirty="0"/>
          </a:p>
        </p:txBody>
      </p:sp>
      <p:sp>
        <p:nvSpPr>
          <p:cNvPr id="16" name="stat-3"/>
          <p:cNvSpPr/>
          <p:nvPr/>
        </p:nvSpPr>
        <p:spPr>
          <a:xfrm>
            <a:off x="6711696" y="141732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11696" y="1554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из 34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711696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21424" y="265176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200" dirty="0"/>
          </a:p>
        </p:txBody>
      </p:sp>
      <p:sp>
        <p:nvSpPr>
          <p:cNvPr id="20" name="partners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639312"/>
            <a:ext cx="77724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Отряд взаимодействует с военкоматом, МЧС, полицией и ветеранскими организациями. Участие бесплатное, форма предоставляется отрядом.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и задачи программы</a:t>
            </a:r>
            <a:endParaRPr lang="en-US" sz="2600" dirty="0"/>
          </a:p>
        </p:txBody>
      </p:sp>
      <p:sp>
        <p:nvSpPr>
          <p:cNvPr id="3" name="goal-card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1556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</a:t>
            </a:r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совершенствование системы военно-патриотического и нравственного воспитания подрастающего поколения.</a:t>
            </a:r>
            <a:endParaRPr lang="en-US" sz="1500" dirty="0"/>
          </a:p>
        </p:txBody>
      </p:sp>
      <p:sp>
        <p:nvSpPr>
          <p:cNvPr id="5" name="task-0"/>
          <p:cNvSpPr/>
          <p:nvPr/>
        </p:nvSpPr>
        <p:spPr>
          <a:xfrm>
            <a:off x="457200" y="214884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6" name="task-ic-0-bg"/>
          <p:cNvSpPr/>
          <p:nvPr/>
        </p:nvSpPr>
        <p:spPr>
          <a:xfrm>
            <a:off x="1097280" y="2331720"/>
            <a:ext cx="640080" cy="64008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7" name="task-ic-0" descr="task-ic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4917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Патриотизм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5204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любовь к Родине, уважение к Вооружённым Силам, история Отечества</a:t>
            </a:r>
            <a:endParaRPr lang="en-US" sz="1200" dirty="0"/>
          </a:p>
        </p:txBody>
      </p:sp>
      <p:sp>
        <p:nvSpPr>
          <p:cNvPr id="10" name="task-1"/>
          <p:cNvSpPr/>
          <p:nvPr/>
        </p:nvSpPr>
        <p:spPr>
          <a:xfrm>
            <a:off x="2542032" y="214884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1" name="task-ic-1-bg"/>
          <p:cNvSpPr/>
          <p:nvPr/>
        </p:nvSpPr>
        <p:spPr>
          <a:xfrm>
            <a:off x="3182112" y="2331720"/>
            <a:ext cx="640080" cy="64008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12" name="task-ic-1" descr="task-ic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132" y="24917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633472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Здоровье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679192" y="35204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физическая закалка, выносливость, здоровый образ жизни</a:t>
            </a:r>
            <a:endParaRPr lang="en-US" sz="1200" dirty="0"/>
          </a:p>
        </p:txBody>
      </p:sp>
      <p:sp>
        <p:nvSpPr>
          <p:cNvPr id="15" name="task-2"/>
          <p:cNvSpPr/>
          <p:nvPr/>
        </p:nvSpPr>
        <p:spPr>
          <a:xfrm>
            <a:off x="4626864" y="214884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6" name="task-ic-2-bg"/>
          <p:cNvSpPr/>
          <p:nvPr/>
        </p:nvSpPr>
        <p:spPr>
          <a:xfrm>
            <a:off x="5266944" y="2331720"/>
            <a:ext cx="640080" cy="64008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17" name="task-ic-2" descr="task-ic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964" y="24917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718304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Знания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764024" y="35204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история, краеведение, военно-технические знания, творчество</a:t>
            </a:r>
            <a:endParaRPr lang="en-US" sz="1200" dirty="0"/>
          </a:p>
        </p:txBody>
      </p:sp>
      <p:sp>
        <p:nvSpPr>
          <p:cNvPr id="20" name="task-3"/>
          <p:cNvSpPr/>
          <p:nvPr/>
        </p:nvSpPr>
        <p:spPr>
          <a:xfrm>
            <a:off x="6711696" y="214884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1" name="task-ic-3-bg"/>
          <p:cNvSpPr/>
          <p:nvPr/>
        </p:nvSpPr>
        <p:spPr>
          <a:xfrm>
            <a:off x="7351776" y="2331720"/>
            <a:ext cx="640080" cy="64008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22" name="task-ic-3" descr="task-ic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796" y="249174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03136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Товарищество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848856" y="35204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ответственность, коллективизм, нравственные ценности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Направления подготовки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направлений — от строя до первой помощи</a:t>
            </a:r>
            <a:endParaRPr lang="en-US" sz="1300" dirty="0"/>
          </a:p>
        </p:txBody>
      </p:sp>
      <p:sp>
        <p:nvSpPr>
          <p:cNvPr id="4" name="dir-0"/>
          <p:cNvSpPr/>
          <p:nvPr/>
        </p:nvSpPr>
        <p:spPr>
          <a:xfrm>
            <a:off x="457200" y="13716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5" name="dir-ic-0-bg"/>
          <p:cNvSpPr/>
          <p:nvPr/>
        </p:nvSpPr>
        <p:spPr>
          <a:xfrm>
            <a:off x="594360" y="1508760"/>
            <a:ext cx="548640" cy="54864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6" name="dir-ic-0" descr="dir-ic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4813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Строевая подготовка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приёмы и движение, воинское приветствие, смотр строя и песни</a:t>
            </a:r>
            <a:endParaRPr lang="en-US" sz="1200" dirty="0"/>
          </a:p>
        </p:txBody>
      </p:sp>
      <p:sp>
        <p:nvSpPr>
          <p:cNvPr id="9" name="dir-1"/>
          <p:cNvSpPr/>
          <p:nvPr/>
        </p:nvSpPr>
        <p:spPr>
          <a:xfrm>
            <a:off x="3246120" y="13716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0" name="dir-ic-1-bg"/>
          <p:cNvSpPr/>
          <p:nvPr/>
        </p:nvSpPr>
        <p:spPr>
          <a:xfrm>
            <a:off x="3383280" y="1508760"/>
            <a:ext cx="548640" cy="54864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11" name="dir-ic-1" descr="dir-ic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6459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14813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Огневая подготовка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устройство, правила безопасности, пневматическое оружие в тире</a:t>
            </a:r>
            <a:endParaRPr lang="en-US" sz="1200" dirty="0"/>
          </a:p>
        </p:txBody>
      </p:sp>
      <p:sp>
        <p:nvSpPr>
          <p:cNvPr id="14" name="dir-2"/>
          <p:cNvSpPr/>
          <p:nvPr/>
        </p:nvSpPr>
        <p:spPr>
          <a:xfrm>
            <a:off x="6035040" y="13716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5" name="dir-ic-2-bg"/>
          <p:cNvSpPr/>
          <p:nvPr/>
        </p:nvSpPr>
        <p:spPr>
          <a:xfrm>
            <a:off x="6172200" y="1508760"/>
            <a:ext cx="548640" cy="54864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16" name="dir-ic-2" descr="dir-ic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58000" y="14813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Физическая подготовка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17220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кросс, силовые упражнения, нормативы ГТО, полоса препятствий</a:t>
            </a:r>
            <a:endParaRPr lang="en-US" sz="1200" dirty="0"/>
          </a:p>
        </p:txBody>
      </p:sp>
      <p:sp>
        <p:nvSpPr>
          <p:cNvPr id="19" name="dir-3"/>
          <p:cNvSpPr/>
          <p:nvPr/>
        </p:nvSpPr>
        <p:spPr>
          <a:xfrm>
            <a:off x="457200" y="301752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0" name="dir-ic-3-bg"/>
          <p:cNvSpPr/>
          <p:nvPr/>
        </p:nvSpPr>
        <p:spPr>
          <a:xfrm>
            <a:off x="594360" y="3154680"/>
            <a:ext cx="548640" cy="54864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21" name="dir-ic-3" descr="dir-ic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918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80160" y="31272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Патриотическое воспитание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9436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ВС РФ, встречи с ветеранами, акции и вахты памяти</a:t>
            </a:r>
            <a:endParaRPr lang="en-US" sz="1200" dirty="0"/>
          </a:p>
        </p:txBody>
      </p:sp>
      <p:sp>
        <p:nvSpPr>
          <p:cNvPr id="24" name="dir-4"/>
          <p:cNvSpPr/>
          <p:nvPr/>
        </p:nvSpPr>
        <p:spPr>
          <a:xfrm>
            <a:off x="3246120" y="301752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5" name="dir-ic-4-bg"/>
          <p:cNvSpPr/>
          <p:nvPr/>
        </p:nvSpPr>
        <p:spPr>
          <a:xfrm>
            <a:off x="3383280" y="3154680"/>
            <a:ext cx="548640" cy="54864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26" name="dir-ic-4" descr="dir-ic-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29184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69080" y="31272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Тактика и ориентирование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338328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компас, карта, азимут, действия на местности</a:t>
            </a:r>
            <a:endParaRPr lang="en-US" sz="1200" dirty="0"/>
          </a:p>
        </p:txBody>
      </p:sp>
      <p:sp>
        <p:nvSpPr>
          <p:cNvPr id="29" name="dir-5"/>
          <p:cNvSpPr/>
          <p:nvPr/>
        </p:nvSpPr>
        <p:spPr>
          <a:xfrm>
            <a:off x="6035040" y="301752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0" name="dir-ic-5-bg"/>
          <p:cNvSpPr/>
          <p:nvPr/>
        </p:nvSpPr>
        <p:spPr>
          <a:xfrm>
            <a:off x="6172200" y="3154680"/>
            <a:ext cx="548640" cy="54864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31" name="dir-ic-5" descr="dir-ic-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29184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58000" y="31272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Медицинская подготовка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617220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помощь, повязки, иммобилизация, транспортировка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программы: 4 раздела, 34 часа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и практика по разделам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57784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0624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основы военной службы (16 ч) · II — военно-спортивная подготовка (9 ч) · III — интеллектуальные игры (3 ч) · IV — исследования и краеведение (6 ч)</a:t>
            </a:r>
            <a:endParaRPr lang="en-US" sz="1050" dirty="0"/>
          </a:p>
        </p:txBody>
      </p:sp>
      <p:sp>
        <p:nvSpPr>
          <p:cNvPr id="6" name="big-practice"/>
          <p:cNvSpPr/>
          <p:nvPr/>
        </p:nvSpPr>
        <p:spPr>
          <a:xfrm>
            <a:off x="6309360" y="137160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0936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часа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строй, огневая, ФП, игры, проекты</a:t>
            </a:r>
            <a:endParaRPr lang="en-US" sz="1200" dirty="0"/>
          </a:p>
        </p:txBody>
      </p:sp>
      <p:sp>
        <p:nvSpPr>
          <p:cNvPr id="9" name="big-theory"/>
          <p:cNvSpPr/>
          <p:nvPr/>
        </p:nvSpPr>
        <p:spPr>
          <a:xfrm>
            <a:off x="6309360" y="297180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0936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часов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теория: уставы, история, ТБ, методы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Строй, знамя, ритуалы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 и уважение — основа юнармейского коллектива</a:t>
            </a:r>
            <a:endParaRPr lang="en-US" sz="1300" dirty="0"/>
          </a:p>
        </p:txBody>
      </p:sp>
      <p:sp>
        <p:nvSpPr>
          <p:cNvPr id="4" name="rit-0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5" name="rit-ic-0-bg"/>
          <p:cNvSpPr/>
          <p:nvPr/>
        </p:nvSpPr>
        <p:spPr>
          <a:xfrm>
            <a:off x="685800" y="1664208"/>
            <a:ext cx="685800" cy="68580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6" name="rit-ic-0" descr="rit-ic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835658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Знамённая группа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1920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вынос и внос знамени школы на линейках и торжественных мероприятиях</a:t>
            </a:r>
            <a:endParaRPr lang="en-US" sz="1300" dirty="0"/>
          </a:p>
        </p:txBody>
      </p:sp>
      <p:sp>
        <p:nvSpPr>
          <p:cNvPr id="9" name="rit-1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0" name="rit-ic-1-bg"/>
          <p:cNvSpPr/>
          <p:nvPr/>
        </p:nvSpPr>
        <p:spPr>
          <a:xfrm>
            <a:off x="4892040" y="1664208"/>
            <a:ext cx="685800" cy="68580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11" name="rit-ic-1" descr="rit-ic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1835658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6072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Почётный караул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760720" y="1920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мемориалы, митинги, памятные даты и вахты памяти</a:t>
            </a:r>
            <a:endParaRPr lang="en-US" sz="1300" dirty="0"/>
          </a:p>
        </p:txBody>
      </p:sp>
      <p:sp>
        <p:nvSpPr>
          <p:cNvPr id="14" name="rit-2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5" name="rit-ic-2-bg"/>
          <p:cNvSpPr/>
          <p:nvPr/>
        </p:nvSpPr>
        <p:spPr>
          <a:xfrm>
            <a:off x="685800" y="3310128"/>
            <a:ext cx="685800" cy="68580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16" name="rit-ic-2" descr="rit-ic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481578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Смотр строя и песни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3566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командный конкурс: строй, приветствие, песня, слаженность</a:t>
            </a:r>
            <a:endParaRPr lang="en-US" sz="1300" dirty="0"/>
          </a:p>
        </p:txBody>
      </p:sp>
      <p:sp>
        <p:nvSpPr>
          <p:cNvPr id="19" name="rit-3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0" name="rit-ic-3-bg"/>
          <p:cNvSpPr/>
          <p:nvPr/>
        </p:nvSpPr>
        <p:spPr>
          <a:xfrm>
            <a:off x="4892040" y="3310128"/>
            <a:ext cx="685800" cy="68580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21" name="rit-ic-3" descr="rit-ic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490" y="3481578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6072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Клятва юнармейца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760720" y="3566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торжественный приём в отряд после подготовки и изучения устава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Военно-патриотическая игра «Зарница 2.0»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соревнование года — к нему мы и готовимся</a:t>
            </a:r>
            <a:endParaRPr lang="en-US" sz="1300" dirty="0"/>
          </a:p>
        </p:txBody>
      </p:sp>
      <p:sp>
        <p:nvSpPr>
          <p:cNvPr id="4" name="zar-disc-0"/>
          <p:cNvSpPr/>
          <p:nvPr/>
        </p:nvSpPr>
        <p:spPr>
          <a:xfrm>
            <a:off x="457200" y="128016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5" name="zar-ic-0-bg"/>
          <p:cNvSpPr/>
          <p:nvPr/>
        </p:nvSpPr>
        <p:spPr>
          <a:xfrm>
            <a:off x="566928" y="1389888"/>
            <a:ext cx="502920" cy="50292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6" name="zar-ic-0" descr="zar-ic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1515618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38988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Военно-прикладные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0116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строевая подготовка, учебный АК, пневматическая винтовка</a:t>
            </a:r>
            <a:endParaRPr lang="en-US" sz="1150" dirty="0"/>
          </a:p>
        </p:txBody>
      </p:sp>
      <p:sp>
        <p:nvSpPr>
          <p:cNvPr id="9" name="zar-disc-1"/>
          <p:cNvSpPr/>
          <p:nvPr/>
        </p:nvSpPr>
        <p:spPr>
          <a:xfrm>
            <a:off x="2542032" y="128016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0" name="zar-ic-1-bg"/>
          <p:cNvSpPr/>
          <p:nvPr/>
        </p:nvSpPr>
        <p:spPr>
          <a:xfrm>
            <a:off x="2651760" y="1389888"/>
            <a:ext cx="502920" cy="5029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11" name="zar-ic-1" descr="zar-ic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490" y="1515618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00400" y="138988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Медицинская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2679192" y="20116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помощь, повязки и шины, транспортировка</a:t>
            </a:r>
            <a:endParaRPr lang="en-US" sz="1150" dirty="0"/>
          </a:p>
        </p:txBody>
      </p:sp>
      <p:sp>
        <p:nvSpPr>
          <p:cNvPr id="14" name="zar-disc-2"/>
          <p:cNvSpPr/>
          <p:nvPr/>
        </p:nvSpPr>
        <p:spPr>
          <a:xfrm>
            <a:off x="4626864" y="128016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5" name="zar-ic-2-bg"/>
          <p:cNvSpPr/>
          <p:nvPr/>
        </p:nvSpPr>
        <p:spPr>
          <a:xfrm>
            <a:off x="4736592" y="1389888"/>
            <a:ext cx="502920" cy="50292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16" name="zar-ic-2" descr="zar-ic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322" y="1515618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85232" y="138988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Физическая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4764024" y="20116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полоса препятствий, кросс, эстафета</a:t>
            </a:r>
            <a:endParaRPr lang="en-US" sz="1150" dirty="0"/>
          </a:p>
        </p:txBody>
      </p:sp>
      <p:sp>
        <p:nvSpPr>
          <p:cNvPr id="19" name="zar-disc-3"/>
          <p:cNvSpPr/>
          <p:nvPr/>
        </p:nvSpPr>
        <p:spPr>
          <a:xfrm>
            <a:off x="6711696" y="128016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0" name="zar-ic-3-bg"/>
          <p:cNvSpPr/>
          <p:nvPr/>
        </p:nvSpPr>
        <p:spPr>
          <a:xfrm>
            <a:off x="6821424" y="1389888"/>
            <a:ext cx="502920" cy="5029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21" name="zar-ic-3" descr="zar-ic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7154" y="1515618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70064" y="138988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Интеллектуальная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6848856" y="20116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ВОВ и ВС РФ, тактические задачи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2852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 игры (команда 8–12 человек, категории 2–4, 5–7 и 8–10 классов). Закрашены этапы, на которых у нас есть результаты</a:t>
            </a:r>
            <a:endParaRPr lang="en-US" sz="1150" dirty="0"/>
          </a:p>
        </p:txBody>
      </p:sp>
      <p:sp>
        <p:nvSpPr>
          <p:cNvPr id="25" name="zar-stage-0"/>
          <p:cNvSpPr/>
          <p:nvPr/>
        </p:nvSpPr>
        <p:spPr>
          <a:xfrm>
            <a:off x="457200" y="315468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57200" y="3154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Школьный</a:t>
            </a:r>
            <a:endParaRPr lang="en-US" sz="1200" dirty="0"/>
          </a:p>
        </p:txBody>
      </p:sp>
      <p:sp>
        <p:nvSpPr>
          <p:cNvPr id="27" name="zar-stage-1"/>
          <p:cNvSpPr/>
          <p:nvPr/>
        </p:nvSpPr>
        <p:spPr>
          <a:xfrm>
            <a:off x="2125980" y="315468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2125980" y="3154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Муниципальный</a:t>
            </a:r>
            <a:endParaRPr lang="en-US" sz="1200" dirty="0"/>
          </a:p>
        </p:txBody>
      </p:sp>
      <p:sp>
        <p:nvSpPr>
          <p:cNvPr id="29" name="zar-stage-2"/>
          <p:cNvSpPr/>
          <p:nvPr/>
        </p:nvSpPr>
        <p:spPr>
          <a:xfrm>
            <a:off x="3794760" y="315468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3794760" y="3154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Дивизионный</a:t>
            </a:r>
            <a:endParaRPr lang="en-US" sz="1200" dirty="0"/>
          </a:p>
        </p:txBody>
      </p:sp>
      <p:sp>
        <p:nvSpPr>
          <p:cNvPr id="31" name="zar-stage-3"/>
          <p:cNvSpPr/>
          <p:nvPr/>
        </p:nvSpPr>
        <p:spPr>
          <a:xfrm>
            <a:off x="5463540" y="315468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463540" y="3154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Региональный</a:t>
            </a:r>
            <a:endParaRPr lang="en-US" sz="1200" dirty="0"/>
          </a:p>
        </p:txBody>
      </p:sp>
      <p:sp>
        <p:nvSpPr>
          <p:cNvPr id="33" name="zar-stage-4"/>
          <p:cNvSpPr/>
          <p:nvPr/>
        </p:nvSpPr>
        <p:spPr>
          <a:xfrm>
            <a:off x="7132320" y="315468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132320" y="3154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Всероссийский</a:t>
            </a:r>
            <a:endParaRPr lang="en-US" sz="1200" dirty="0"/>
          </a:p>
        </p:txBody>
      </p:sp>
      <p:sp>
        <p:nvSpPr>
          <p:cNvPr id="35" name="zar-results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85800" y="3776472"/>
            <a:ext cx="77724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 результаты: 1 место в тактической игре на дивизионном этапе (г. Семёнов, апрель 2026), 1 место в общем зачёте старшей категории на муниципальном этапе (март 2026). Всего — 24 награды команды СШ № 2 за 2024–2026 годы.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Первая помощь: алгоритм действий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Отрабатываем на тренажёрах и подручных средствах</a:t>
            </a:r>
            <a:endParaRPr lang="en-US" sz="1300" dirty="0"/>
          </a:p>
        </p:txBody>
      </p:sp>
      <p:sp>
        <p:nvSpPr>
          <p:cNvPr id="4" name="step-1"/>
          <p:cNvSpPr/>
          <p:nvPr/>
        </p:nvSpPr>
        <p:spPr>
          <a:xfrm>
            <a:off x="457200" y="1325880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5" name="step-n-1"/>
          <p:cNvSpPr/>
          <p:nvPr/>
        </p:nvSpPr>
        <p:spPr>
          <a:xfrm>
            <a:off x="594360" y="1435608"/>
            <a:ext cx="475488" cy="475488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25880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Безопасность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325880"/>
            <a:ext cx="4937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 обстановку, не подвергай себя риску</a:t>
            </a:r>
            <a:endParaRPr lang="en-US" sz="1400" dirty="0"/>
          </a:p>
        </p:txBody>
      </p:sp>
      <p:sp>
        <p:nvSpPr>
          <p:cNvPr id="9" name="step-2"/>
          <p:cNvSpPr/>
          <p:nvPr/>
        </p:nvSpPr>
        <p:spPr>
          <a:xfrm>
            <a:off x="457200" y="2130552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0" name="step-n-2"/>
          <p:cNvSpPr/>
          <p:nvPr/>
        </p:nvSpPr>
        <p:spPr>
          <a:xfrm>
            <a:off x="594360" y="2240280"/>
            <a:ext cx="475488" cy="475488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130552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Вызов помощи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130552"/>
            <a:ext cx="4937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или 103: место, что случилось, сколько пострадавших</a:t>
            </a:r>
            <a:endParaRPr lang="en-US" sz="1400" dirty="0"/>
          </a:p>
        </p:txBody>
      </p:sp>
      <p:sp>
        <p:nvSpPr>
          <p:cNvPr id="14" name="step-3"/>
          <p:cNvSpPr/>
          <p:nvPr/>
        </p:nvSpPr>
        <p:spPr>
          <a:xfrm>
            <a:off x="457200" y="2935224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5" name="step-n-3"/>
          <p:cNvSpPr/>
          <p:nvPr/>
        </p:nvSpPr>
        <p:spPr>
          <a:xfrm>
            <a:off x="594360" y="3044952"/>
            <a:ext cx="475488" cy="47548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35224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Помощь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935224"/>
            <a:ext cx="4937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остановка кровотечения, повязка, иммобилизация, СЛР</a:t>
            </a:r>
            <a:endParaRPr lang="en-US" sz="1400" dirty="0"/>
          </a:p>
        </p:txBody>
      </p:sp>
      <p:sp>
        <p:nvSpPr>
          <p:cNvPr id="19" name="step-4"/>
          <p:cNvSpPr/>
          <p:nvPr/>
        </p:nvSpPr>
        <p:spPr>
          <a:xfrm>
            <a:off x="457200" y="3739896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0" name="step-n-4"/>
          <p:cNvSpPr/>
          <p:nvPr/>
        </p:nvSpPr>
        <p:spPr>
          <a:xfrm>
            <a:off x="594360" y="3849624"/>
            <a:ext cx="475488" cy="475488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849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739896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Наблюдение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3739896"/>
            <a:ext cx="4937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оставайся рядом до приезда бригады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Чем живёт отряд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2025–2026 учебного года</a:t>
            </a:r>
            <a:endParaRPr lang="en-US" sz="1300" dirty="0"/>
          </a:p>
        </p:txBody>
      </p:sp>
      <p:sp>
        <p:nvSpPr>
          <p:cNvPr id="4" name="timeline"/>
          <p:cNvSpPr/>
          <p:nvPr/>
        </p:nvSpPr>
        <p:spPr>
          <a:xfrm>
            <a:off x="731520" y="2148840"/>
            <a:ext cx="7680960" cy="0"/>
          </a:xfrm>
          <a:prstGeom prst="line">
            <a:avLst/>
          </a:prstGeom>
          <a:noFill/>
          <a:ln w="25400">
            <a:solidFill>
              <a:srgbClr val="003D7A"/>
            </a:solidFill>
            <a:prstDash val="solid"/>
          </a:ln>
        </p:spPr>
      </p:sp>
      <p:sp>
        <p:nvSpPr>
          <p:cNvPr id="5" name="dot-0"/>
          <p:cNvSpPr/>
          <p:nvPr/>
        </p:nvSpPr>
        <p:spPr>
          <a:xfrm>
            <a:off x="960120" y="2029968"/>
            <a:ext cx="237744" cy="237744"/>
          </a:xfrm>
          <a:prstGeom prst="ellipse">
            <a:avLst/>
          </a:prstGeom>
          <a:solidFill>
            <a:srgbClr val="003D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сент. 2025</a:t>
            </a:r>
            <a:endParaRPr lang="en-US" sz="1300" dirty="0"/>
          </a:p>
        </p:txBody>
      </p:sp>
      <p:sp>
        <p:nvSpPr>
          <p:cNvPr id="7" name="ev-0"/>
          <p:cNvSpPr/>
          <p:nvPr/>
        </p:nvSpPr>
        <p:spPr>
          <a:xfrm>
            <a:off x="457200" y="2514600"/>
            <a:ext cx="1280160" cy="160020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2578608"/>
            <a:ext cx="1133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Вынос знамени школы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3383280"/>
            <a:ext cx="1133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линейка в День знаний</a:t>
            </a:r>
            <a:endParaRPr lang="en-US" sz="1100" dirty="0"/>
          </a:p>
        </p:txBody>
      </p:sp>
      <p:sp>
        <p:nvSpPr>
          <p:cNvPr id="10" name="dot-1"/>
          <p:cNvSpPr/>
          <p:nvPr/>
        </p:nvSpPr>
        <p:spPr>
          <a:xfrm>
            <a:off x="2331720" y="2029968"/>
            <a:ext cx="237744" cy="237744"/>
          </a:xfrm>
          <a:prstGeom prst="ellipse">
            <a:avLst/>
          </a:prstGeom>
          <a:solidFill>
            <a:srgbClr val="E5393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2880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1300" dirty="0"/>
          </a:p>
        </p:txBody>
      </p:sp>
      <p:sp>
        <p:nvSpPr>
          <p:cNvPr id="12" name="ev-1"/>
          <p:cNvSpPr/>
          <p:nvPr/>
        </p:nvSpPr>
        <p:spPr>
          <a:xfrm>
            <a:off x="1828800" y="2514600"/>
            <a:ext cx="1280160" cy="160020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01952" y="2578608"/>
            <a:ext cx="1133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Ассамблея «Время выбрало нас»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901952" y="3383280"/>
            <a:ext cx="1133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место</a:t>
            </a:r>
            <a:endParaRPr lang="en-US" sz="1100" dirty="0"/>
          </a:p>
        </p:txBody>
      </p:sp>
      <p:sp>
        <p:nvSpPr>
          <p:cNvPr id="15" name="dot-2"/>
          <p:cNvSpPr/>
          <p:nvPr/>
        </p:nvSpPr>
        <p:spPr>
          <a:xfrm>
            <a:off x="3703320" y="2029968"/>
            <a:ext cx="237744" cy="237744"/>
          </a:xfrm>
          <a:prstGeom prst="ellipse">
            <a:avLst/>
          </a:prstGeom>
          <a:solidFill>
            <a:srgbClr val="003D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040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февр. 2026</a:t>
            </a:r>
            <a:endParaRPr lang="en-US" sz="1300" dirty="0"/>
          </a:p>
        </p:txBody>
      </p:sp>
      <p:sp>
        <p:nvSpPr>
          <p:cNvPr id="17" name="ev-2"/>
          <p:cNvSpPr/>
          <p:nvPr/>
        </p:nvSpPr>
        <p:spPr>
          <a:xfrm>
            <a:off x="3200400" y="2514600"/>
            <a:ext cx="1280160" cy="160020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73552" y="2578608"/>
            <a:ext cx="1133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мужества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73552" y="3383280"/>
            <a:ext cx="1133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учеников 5 и 8 классов в отряд</a:t>
            </a:r>
            <a:endParaRPr lang="en-US" sz="1100" dirty="0"/>
          </a:p>
        </p:txBody>
      </p:sp>
      <p:sp>
        <p:nvSpPr>
          <p:cNvPr id="20" name="dot-3"/>
          <p:cNvSpPr/>
          <p:nvPr/>
        </p:nvSpPr>
        <p:spPr>
          <a:xfrm>
            <a:off x="5074920" y="2029968"/>
            <a:ext cx="237744" cy="237744"/>
          </a:xfrm>
          <a:prstGeom prst="ellipse">
            <a:avLst/>
          </a:prstGeom>
          <a:solidFill>
            <a:srgbClr val="E5393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и 9 мая 2026</a:t>
            </a:r>
            <a:endParaRPr lang="en-US" sz="1300" dirty="0"/>
          </a:p>
        </p:txBody>
      </p:sp>
      <p:sp>
        <p:nvSpPr>
          <p:cNvPr id="22" name="ev-3"/>
          <p:cNvSpPr/>
          <p:nvPr/>
        </p:nvSpPr>
        <p:spPr>
          <a:xfrm>
            <a:off x="4572000" y="2514600"/>
            <a:ext cx="1280160" cy="160020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45152" y="2578608"/>
            <a:ext cx="1133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«Живая память о Победе»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645152" y="3383280"/>
            <a:ext cx="1133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Почётный караул, митинг</a:t>
            </a:r>
            <a:endParaRPr lang="en-US" sz="1100" dirty="0"/>
          </a:p>
        </p:txBody>
      </p:sp>
      <p:sp>
        <p:nvSpPr>
          <p:cNvPr id="25" name="dot-4"/>
          <p:cNvSpPr/>
          <p:nvPr/>
        </p:nvSpPr>
        <p:spPr>
          <a:xfrm>
            <a:off x="6446520" y="2029968"/>
            <a:ext cx="237744" cy="237744"/>
          </a:xfrm>
          <a:prstGeom prst="ellipse">
            <a:avLst/>
          </a:prstGeom>
          <a:solidFill>
            <a:srgbClr val="003D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мая 2026</a:t>
            </a:r>
            <a:endParaRPr lang="en-US" sz="1300" dirty="0"/>
          </a:p>
        </p:txBody>
      </p:sp>
      <p:sp>
        <p:nvSpPr>
          <p:cNvPr id="27" name="ev-4"/>
          <p:cNvSpPr/>
          <p:nvPr/>
        </p:nvSpPr>
        <p:spPr>
          <a:xfrm>
            <a:off x="5943600" y="2514600"/>
            <a:ext cx="1280160" cy="160020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16752" y="2578608"/>
            <a:ext cx="1133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Слёт «Траектория будущего»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016752" y="3383280"/>
            <a:ext cx="1133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знаменосцы открыли колонну</a:t>
            </a:r>
            <a:endParaRPr lang="en-US" sz="1100" dirty="0"/>
          </a:p>
        </p:txBody>
      </p:sp>
      <p:sp>
        <p:nvSpPr>
          <p:cNvPr id="30" name="dot-5"/>
          <p:cNvSpPr/>
          <p:nvPr/>
        </p:nvSpPr>
        <p:spPr>
          <a:xfrm>
            <a:off x="7818120" y="2029968"/>
            <a:ext cx="237744" cy="237744"/>
          </a:xfrm>
          <a:prstGeom prst="ellipse">
            <a:avLst/>
          </a:prstGeom>
          <a:solidFill>
            <a:srgbClr val="E5393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сент. 2026</a:t>
            </a:r>
            <a:endParaRPr lang="en-US" sz="1300" dirty="0"/>
          </a:p>
        </p:txBody>
      </p:sp>
      <p:sp>
        <p:nvSpPr>
          <p:cNvPr id="32" name="ev-5"/>
          <p:cNvSpPr/>
          <p:nvPr/>
        </p:nvSpPr>
        <p:spPr>
          <a:xfrm>
            <a:off x="7315200" y="2514600"/>
            <a:ext cx="1280160" cy="160020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88352" y="2578608"/>
            <a:ext cx="1133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Линейка Дня знаний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388352" y="3383280"/>
            <a:ext cx="1133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знамённая группа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Безопасность и дисциплина</a:t>
            </a:r>
            <a:endParaRPr lang="en-US" sz="2600" dirty="0"/>
          </a:p>
        </p:txBody>
      </p:sp>
      <p:sp>
        <p:nvSpPr>
          <p:cNvPr id="3" name="safe-0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4" name="safe-ic-0-bg"/>
          <p:cNvSpPr/>
          <p:nvPr/>
        </p:nvSpPr>
        <p:spPr>
          <a:xfrm>
            <a:off x="685800" y="1600200"/>
            <a:ext cx="685800" cy="68580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5" name="safe-ic-0" descr="safe-ic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898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Инструктаж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874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каждым практическим занятием, выходом и стрельбой</a:t>
            </a:r>
            <a:endParaRPr lang="en-US" sz="1300" dirty="0"/>
          </a:p>
        </p:txBody>
      </p:sp>
      <p:sp>
        <p:nvSpPr>
          <p:cNvPr id="8" name="safe-1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9" name="safe-ic-1-bg"/>
          <p:cNvSpPr/>
          <p:nvPr/>
        </p:nvSpPr>
        <p:spPr>
          <a:xfrm>
            <a:off x="4892040" y="1600200"/>
            <a:ext cx="685800" cy="68580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10" name="safe-ic-1" descr="safe-ic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177165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3898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Оружие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1874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макеты; стрельба в тире под руководством инструктора</a:t>
            </a:r>
            <a:endParaRPr lang="en-US" sz="1300" dirty="0"/>
          </a:p>
        </p:txBody>
      </p:sp>
      <p:sp>
        <p:nvSpPr>
          <p:cNvPr id="13" name="safe-2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4" name="safe-ic-2-bg"/>
          <p:cNvSpPr/>
          <p:nvPr/>
        </p:nvSpPr>
        <p:spPr>
          <a:xfrm>
            <a:off x="685800" y="3291840"/>
            <a:ext cx="685800" cy="68580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pic>
        <p:nvPicPr>
          <p:cNvPr id="15" name="safe-ic-2" descr="safe-ic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46329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3081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Допуск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3566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согласие родителей, хорошее самочувствие, соблюдение правил</a:t>
            </a:r>
            <a:endParaRPr lang="en-US" sz="1300" dirty="0"/>
          </a:p>
        </p:txBody>
      </p:sp>
      <p:sp>
        <p:nvSpPr>
          <p:cNvPr id="18" name="safe-3"/>
          <p:cNvSpPr/>
          <p:nvPr/>
        </p:nvSpPr>
        <p:spPr>
          <a:xfrm>
            <a:off x="4663440" y="28803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9" name="safe-ic-3-bg"/>
          <p:cNvSpPr/>
          <p:nvPr/>
        </p:nvSpPr>
        <p:spPr>
          <a:xfrm>
            <a:off x="4892040" y="3291840"/>
            <a:ext cx="685800" cy="68580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20" name="safe-ic-3" descr="safe-ic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490" y="346329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60720" y="3081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Погода и нагрузка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760720" y="3566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жара, мороз, гололёд — переносим в зал; нагрузка по возрасту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оцениваем результат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Тесты, зачёты и участие — всё фиксируется в зачётном листе</a:t>
            </a:r>
            <a:endParaRPr lang="en-US" sz="1300" dirty="0"/>
          </a:p>
        </p:txBody>
      </p:sp>
      <p:sp>
        <p:nvSpPr>
          <p:cNvPr id="4" name="test-0"/>
          <p:cNvSpPr/>
          <p:nvPr/>
        </p:nvSpPr>
        <p:spPr>
          <a:xfrm>
            <a:off x="457200" y="13716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5" name="test-n-0"/>
          <p:cNvSpPr/>
          <p:nvPr/>
        </p:nvSpPr>
        <p:spPr>
          <a:xfrm>
            <a:off x="594360" y="1527048"/>
            <a:ext cx="457200" cy="45720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71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№1. Строевая подготовка</a:t>
            </a:r>
            <a:endParaRPr lang="en-US" sz="1250" dirty="0"/>
          </a:p>
        </p:txBody>
      </p:sp>
      <p:sp>
        <p:nvSpPr>
          <p:cNvPr id="8" name="test-1"/>
          <p:cNvSpPr/>
          <p:nvPr/>
        </p:nvSpPr>
        <p:spPr>
          <a:xfrm>
            <a:off x="3246120" y="13716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9" name="test-n-1"/>
          <p:cNvSpPr/>
          <p:nvPr/>
        </p:nvSpPr>
        <p:spPr>
          <a:xfrm>
            <a:off x="3383280" y="1527048"/>
            <a:ext cx="457200" cy="45720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1371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№2. Огневая подготовка</a:t>
            </a:r>
            <a:endParaRPr lang="en-US" sz="1250" dirty="0"/>
          </a:p>
        </p:txBody>
      </p:sp>
      <p:sp>
        <p:nvSpPr>
          <p:cNvPr id="12" name="test-2"/>
          <p:cNvSpPr/>
          <p:nvPr/>
        </p:nvSpPr>
        <p:spPr>
          <a:xfrm>
            <a:off x="6035040" y="13716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3" name="test-n-2"/>
          <p:cNvSpPr/>
          <p:nvPr/>
        </p:nvSpPr>
        <p:spPr>
          <a:xfrm>
            <a:off x="6172200" y="1527048"/>
            <a:ext cx="457200" cy="45720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371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№3. Ориентирование</a:t>
            </a:r>
            <a:endParaRPr lang="en-US" sz="1250" dirty="0"/>
          </a:p>
        </p:txBody>
      </p:sp>
      <p:sp>
        <p:nvSpPr>
          <p:cNvPr id="16" name="test-3"/>
          <p:cNvSpPr/>
          <p:nvPr/>
        </p:nvSpPr>
        <p:spPr>
          <a:xfrm>
            <a:off x="457200" y="22860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7" name="test-n-3"/>
          <p:cNvSpPr/>
          <p:nvPr/>
        </p:nvSpPr>
        <p:spPr>
          <a:xfrm>
            <a:off x="594360" y="2441448"/>
            <a:ext cx="457200" cy="45720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286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№4. Первая помощь</a:t>
            </a:r>
            <a:endParaRPr lang="en-US" sz="1250" dirty="0"/>
          </a:p>
        </p:txBody>
      </p:sp>
      <p:sp>
        <p:nvSpPr>
          <p:cNvPr id="20" name="test-4"/>
          <p:cNvSpPr/>
          <p:nvPr/>
        </p:nvSpPr>
        <p:spPr>
          <a:xfrm>
            <a:off x="3246120" y="22860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1" name="test-n-4"/>
          <p:cNvSpPr/>
          <p:nvPr/>
        </p:nvSpPr>
        <p:spPr>
          <a:xfrm>
            <a:off x="3383280" y="2441448"/>
            <a:ext cx="457200" cy="45720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8328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2286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№5. Туризм</a:t>
            </a:r>
            <a:endParaRPr lang="en-US" sz="1250" dirty="0"/>
          </a:p>
        </p:txBody>
      </p:sp>
      <p:sp>
        <p:nvSpPr>
          <p:cNvPr id="24" name="test-5"/>
          <p:cNvSpPr/>
          <p:nvPr/>
        </p:nvSpPr>
        <p:spPr>
          <a:xfrm>
            <a:off x="6035040" y="22860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5" name="test-n-5"/>
          <p:cNvSpPr/>
          <p:nvPr/>
        </p:nvSpPr>
        <p:spPr>
          <a:xfrm>
            <a:off x="6172200" y="2441448"/>
            <a:ext cx="457200" cy="45720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2286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№6. Итоговый тест года</a:t>
            </a:r>
            <a:endParaRPr lang="en-US" sz="1250" dirty="0"/>
          </a:p>
        </p:txBody>
      </p:sp>
      <p:sp>
        <p:nvSpPr>
          <p:cNvPr id="28" name="level-0"/>
          <p:cNvSpPr/>
          <p:nvPr/>
        </p:nvSpPr>
        <p:spPr>
          <a:xfrm>
            <a:off x="457200" y="34290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3493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Высокий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886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85–100 %</a:t>
            </a:r>
            <a:endParaRPr lang="en-US" sz="2200" dirty="0"/>
          </a:p>
        </p:txBody>
      </p:sp>
      <p:sp>
        <p:nvSpPr>
          <p:cNvPr id="31" name="level-1"/>
          <p:cNvSpPr/>
          <p:nvPr/>
        </p:nvSpPr>
        <p:spPr>
          <a:xfrm>
            <a:off x="3246120" y="34290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246120" y="3493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Средний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3246120" y="3886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60–84 %</a:t>
            </a:r>
            <a:endParaRPr lang="en-US" sz="2200" dirty="0"/>
          </a:p>
        </p:txBody>
      </p:sp>
      <p:sp>
        <p:nvSpPr>
          <p:cNvPr id="34" name="level-2"/>
          <p:cNvSpPr/>
          <p:nvPr/>
        </p:nvSpPr>
        <p:spPr>
          <a:xfrm>
            <a:off x="6035040" y="34290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35040" y="3493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Базовый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035040" y="3886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менее 60 %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вступить в отряд «Вымпел»</a:t>
            </a:r>
            <a:endParaRPr lang="en-US" sz="2600" dirty="0"/>
          </a:p>
        </p:txBody>
      </p:sp>
      <p:sp>
        <p:nvSpPr>
          <p:cNvPr id="3" name="join-1"/>
          <p:cNvSpPr/>
          <p:nvPr/>
        </p:nvSpPr>
        <p:spPr>
          <a:xfrm>
            <a:off x="457200" y="132588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Желание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060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служить Отечеству и соблюдать дисциплину</a:t>
            </a:r>
            <a:endParaRPr lang="en-US" sz="1200" dirty="0"/>
          </a:p>
        </p:txBody>
      </p:sp>
      <p:sp>
        <p:nvSpPr>
          <p:cNvPr id="7" name="join-2"/>
          <p:cNvSpPr/>
          <p:nvPr/>
        </p:nvSpPr>
        <p:spPr>
          <a:xfrm>
            <a:off x="2542032" y="132588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42032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633472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Согласие родителей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2679192" y="26060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несовершеннолетних — обязательно</a:t>
            </a:r>
            <a:endParaRPr lang="en-US" sz="1200" dirty="0"/>
          </a:p>
        </p:txBody>
      </p:sp>
      <p:sp>
        <p:nvSpPr>
          <p:cNvPr id="11" name="join-3"/>
          <p:cNvSpPr/>
          <p:nvPr/>
        </p:nvSpPr>
        <p:spPr>
          <a:xfrm>
            <a:off x="4626864" y="132588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26864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718304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Здоровье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26060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хорошая подготовка приветствуется, но не обязательна</a:t>
            </a:r>
            <a:endParaRPr lang="en-US" sz="1200" dirty="0"/>
          </a:p>
        </p:txBody>
      </p:sp>
      <p:sp>
        <p:nvSpPr>
          <p:cNvPr id="15" name="join-4"/>
          <p:cNvSpPr/>
          <p:nvPr/>
        </p:nvSpPr>
        <p:spPr>
          <a:xfrm>
            <a:off x="6711696" y="132588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11696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803136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Приём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848856" y="26060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торжественное принятие в отряд и клятва юнармейца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Классы: 5–10. Занятия по вторникам в 17.00, каб. № 210. Запись: info@demin-obzr.ru или через страницу «Юнармия» сайта.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Присоединяйся к «Вымпелу»!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B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Занятия по вторникам в 17.00, кабинет № 210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Сайт: demin-obzr.ru · страница «Юнармия»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материалов подготовлена с помощью ИИ и проверена педагогом.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Юнармия 2026">
  <a:themeElements>
    <a:clrScheme name="Юнармия 2026">
      <a:dk1>
        <a:srgbClr val="1F2A37"/>
      </a:dk1>
      <a:lt1>
        <a:srgbClr val="FFFFFF"/>
      </a:lt1>
      <a:dk2>
        <a:srgbClr val="003D7A"/>
      </a:dk2>
      <a:lt2>
        <a:srgbClr val="F5F7FA"/>
      </a:lt2>
      <a:accent1>
        <a:srgbClr val="003D7A"/>
      </a:accent1>
      <a:accent2>
        <a:srgbClr val="E53935"/>
      </a:accent2>
      <a:accent3>
        <a:srgbClr val="FFA500"/>
      </a:accent3>
      <a:accent4>
        <a:srgbClr val="4CAF50"/>
      </a:accent4>
      <a:accent5>
        <a:srgbClr val="00518A"/>
      </a:accent5>
      <a:accent6>
        <a:srgbClr val="7F8C8D"/>
      </a:accent6>
      <a:hlink>
        <a:srgbClr val="003D7A"/>
      </a:hlink>
      <a:folHlink>
        <a:srgbClr val="7F8C8D"/>
      </a:folHlink>
    </a:clrScheme>
    <a:fontScheme name="Юнармия 2026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Юнармейский отряд «Вымпел» 2026–2027</dc:title>
  <dc:subject>PptxGenJS Presentation</dc:subject>
  <dc:creator>Дёмин А. Ю.</dc:creator>
  <cp:lastModifiedBy>Дёмин А. Ю.</cp:lastModifiedBy>
  <cp:revision>1</cp:revision>
  <dcterms:created xsi:type="dcterms:W3CDTF">2026-10-26T11:21:17Z</dcterms:created>
  <dcterms:modified xsi:type="dcterms:W3CDTF">2026-10-26T11:21:17Z</dcterms:modified>
</cp:coreProperties>
</file>