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24176" cy="10689336"/>
  <p:notesSz cx="10689336" cy="1512417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Замените текст на свой. В Canva: Файл → Импортировать файлы → загрузите этот PPTX. Формат A3 альбомный.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Алгоритм сверьте с официальными материалами МЧС и инструкциями вашей школы.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эвакуации по ГОСТ и требованиям пожарной безопасности вашей школы. Шаблон — оформление; официальные планы эвакуации выполняются по установленным правилам.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Впишите свои номера: школа, классный руководитель, дежурная часть. Проверьте актуальность номеров.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5124176" cy="1737360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" name="Заголовок"/>
          <p:cNvSpPr txBox="1"/>
          <p:nvPr/>
        </p:nvSpPr>
        <p:spPr>
          <a:xfrm>
            <a:off x="640080" y="228600"/>
            <a:ext cx="1384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ПЕРВАЯ ПОМОЩЬ: ПОРЯДОК ДЕЙСТВИЙ</a:t>
            </a:r>
            <a:endParaRPr lang="en-US" sz="3800" dirty="0"/>
          </a:p>
        </p:txBody>
      </p:sp>
      <p:sp>
        <p:nvSpPr>
          <p:cNvPr id="4" name="Подзаголовок"/>
          <p:cNvSpPr txBox="1"/>
          <p:nvPr/>
        </p:nvSpPr>
        <p:spPr>
          <a:xfrm>
            <a:off x="640080" y="1097280"/>
            <a:ext cx="1384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Семь шагов. Выучи порядок: в стрессе он помогает не растеряться</a:t>
            </a:r>
            <a:endParaRPr lang="en-US" sz="2200" dirty="0"/>
          </a:p>
        </p:txBody>
      </p:sp>
      <p:sp>
        <p:nvSpPr>
          <p:cNvPr id="5" name="footer"/>
          <p:cNvSpPr/>
          <p:nvPr/>
        </p:nvSpPr>
        <p:spPr>
          <a:xfrm>
            <a:off x="0" y="10186416"/>
            <a:ext cx="15124176" cy="502920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6" name="Подвал"/>
          <p:cNvSpPr txBox="1"/>
          <p:nvPr/>
        </p:nvSpPr>
        <p:spPr>
          <a:xfrm>
            <a:off x="640080" y="10186416"/>
            <a:ext cx="1384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demin-obzr.ru · МБОУ СШ № 2 г. Лысково · ОБЗР</a:t>
            </a:r>
            <a:endParaRPr lang="en-US" sz="1600" dirty="0"/>
          </a:p>
        </p:txBody>
      </p:sp>
      <p:sp>
        <p:nvSpPr>
          <p:cNvPr id="7" name="Карточка 1"/>
          <p:cNvSpPr/>
          <p:nvPr/>
        </p:nvSpPr>
        <p:spPr>
          <a:xfrm>
            <a:off x="640080" y="2057400"/>
            <a:ext cx="3429000" cy="3063240"/>
          </a:xfrm>
          <a:prstGeom prst="roundRect">
            <a:avLst>
              <a:gd name="adj" fmla="val 3582"/>
            </a:avLst>
          </a:prstGeom>
          <a:solidFill>
            <a:srgbClr val="F3F6FA"/>
          </a:solidFill>
          <a:ln w="19050">
            <a:solidFill>
              <a:srgbClr val="C9D3E0"/>
            </a:solidFill>
            <a:prstDash val="solid"/>
          </a:ln>
        </p:spPr>
      </p:sp>
      <p:sp>
        <p:nvSpPr>
          <p:cNvPr id="8" name="Номер 1 фон"/>
          <p:cNvSpPr/>
          <p:nvPr/>
        </p:nvSpPr>
        <p:spPr>
          <a:xfrm>
            <a:off x="868680" y="2286000"/>
            <a:ext cx="822960" cy="82296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9" name="Номер 1"/>
          <p:cNvSpPr txBox="1"/>
          <p:nvPr/>
        </p:nvSpPr>
        <p:spPr>
          <a:xfrm>
            <a:off x="86868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10" name="Шаг 1 заголовок"/>
          <p:cNvSpPr txBox="1"/>
          <p:nvPr/>
        </p:nvSpPr>
        <p:spPr>
          <a:xfrm>
            <a:off x="1828800" y="219456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Оцени безопасность</a:t>
            </a:r>
            <a:endParaRPr lang="en-US" sz="2000" dirty="0"/>
          </a:p>
        </p:txBody>
      </p:sp>
      <p:sp>
        <p:nvSpPr>
          <p:cNvPr id="11" name="Шаг 1 текст"/>
          <p:cNvSpPr txBox="1"/>
          <p:nvPr/>
        </p:nvSpPr>
        <p:spPr>
          <a:xfrm>
            <a:off x="868680" y="329184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Опасность для тебя и пострадавшего? Если есть, сначала устрани её или отойди.</a:t>
            </a:r>
            <a:endParaRPr lang="en-US" sz="1700" dirty="0"/>
          </a:p>
        </p:txBody>
      </p:sp>
      <p:sp>
        <p:nvSpPr>
          <p:cNvPr id="12" name="Карточка 2"/>
          <p:cNvSpPr/>
          <p:nvPr/>
        </p:nvSpPr>
        <p:spPr>
          <a:xfrm>
            <a:off x="4233672" y="2057400"/>
            <a:ext cx="3429000" cy="3063240"/>
          </a:xfrm>
          <a:prstGeom prst="roundRect">
            <a:avLst>
              <a:gd name="adj" fmla="val 3582"/>
            </a:avLst>
          </a:prstGeom>
          <a:solidFill>
            <a:srgbClr val="F3F6FA"/>
          </a:solidFill>
          <a:ln w="19050">
            <a:solidFill>
              <a:srgbClr val="C9D3E0"/>
            </a:solidFill>
            <a:prstDash val="solid"/>
          </a:ln>
        </p:spPr>
      </p:sp>
      <p:sp>
        <p:nvSpPr>
          <p:cNvPr id="13" name="Номер 2 фон"/>
          <p:cNvSpPr/>
          <p:nvPr/>
        </p:nvSpPr>
        <p:spPr>
          <a:xfrm>
            <a:off x="4462272" y="2286000"/>
            <a:ext cx="822960" cy="82296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4" name="Номер 2"/>
          <p:cNvSpPr txBox="1"/>
          <p:nvPr/>
        </p:nvSpPr>
        <p:spPr>
          <a:xfrm>
            <a:off x="4462272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Шаг 2 заголовок"/>
          <p:cNvSpPr txBox="1"/>
          <p:nvPr/>
        </p:nvSpPr>
        <p:spPr>
          <a:xfrm>
            <a:off x="5422392" y="219456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сознание и дыхание</a:t>
            </a:r>
            <a:endParaRPr lang="en-US" sz="2000" dirty="0"/>
          </a:p>
        </p:txBody>
      </p:sp>
      <p:sp>
        <p:nvSpPr>
          <p:cNvPr id="16" name="Шаг 2 текст"/>
          <p:cNvSpPr txBox="1"/>
          <p:nvPr/>
        </p:nvSpPr>
        <p:spPr>
          <a:xfrm>
            <a:off x="4462272" y="329184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Окликни, слегка встряхни за плечи, проверь дыхание. Нет сознания и дыхания — звони 103 или 112, начинай СЛР.</a:t>
            </a:r>
            <a:endParaRPr lang="en-US" sz="1700" dirty="0"/>
          </a:p>
        </p:txBody>
      </p:sp>
      <p:sp>
        <p:nvSpPr>
          <p:cNvPr id="17" name="Карточка 3"/>
          <p:cNvSpPr/>
          <p:nvPr/>
        </p:nvSpPr>
        <p:spPr>
          <a:xfrm>
            <a:off x="7827264" y="2057400"/>
            <a:ext cx="3429000" cy="3063240"/>
          </a:xfrm>
          <a:prstGeom prst="roundRect">
            <a:avLst>
              <a:gd name="adj" fmla="val 3582"/>
            </a:avLst>
          </a:prstGeom>
          <a:solidFill>
            <a:srgbClr val="F3F6FA"/>
          </a:solidFill>
          <a:ln w="19050">
            <a:solidFill>
              <a:srgbClr val="C9D3E0"/>
            </a:solidFill>
            <a:prstDash val="solid"/>
          </a:ln>
        </p:spPr>
      </p:sp>
      <p:sp>
        <p:nvSpPr>
          <p:cNvPr id="18" name="Номер 3 фон"/>
          <p:cNvSpPr/>
          <p:nvPr/>
        </p:nvSpPr>
        <p:spPr>
          <a:xfrm>
            <a:off x="8055864" y="2286000"/>
            <a:ext cx="822960" cy="82296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19" name="Номер 3"/>
          <p:cNvSpPr txBox="1"/>
          <p:nvPr/>
        </p:nvSpPr>
        <p:spPr>
          <a:xfrm>
            <a:off x="8055864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20" name="Шаг 3 заголовок"/>
          <p:cNvSpPr txBox="1"/>
          <p:nvPr/>
        </p:nvSpPr>
        <p:spPr>
          <a:xfrm>
            <a:off x="9015984" y="219456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Останови сильное кровотечение</a:t>
            </a:r>
            <a:endParaRPr lang="en-US" sz="2000" dirty="0"/>
          </a:p>
        </p:txBody>
      </p:sp>
      <p:sp>
        <p:nvSpPr>
          <p:cNvPr id="21" name="Шаг 3 текст"/>
          <p:cNvSpPr txBox="1"/>
          <p:nvPr/>
        </p:nvSpPr>
        <p:spPr>
          <a:xfrm>
            <a:off x="8055864" y="329184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Прижми рану, наложи давящую повязку. Жгут — только в крайнем случае, по правилам.</a:t>
            </a:r>
            <a:endParaRPr lang="en-US" sz="1700" dirty="0"/>
          </a:p>
        </p:txBody>
      </p:sp>
      <p:sp>
        <p:nvSpPr>
          <p:cNvPr id="22" name="Карточка 4"/>
          <p:cNvSpPr/>
          <p:nvPr/>
        </p:nvSpPr>
        <p:spPr>
          <a:xfrm>
            <a:off x="11420856" y="2057400"/>
            <a:ext cx="3429000" cy="3063240"/>
          </a:xfrm>
          <a:prstGeom prst="roundRect">
            <a:avLst>
              <a:gd name="adj" fmla="val 3582"/>
            </a:avLst>
          </a:prstGeom>
          <a:solidFill>
            <a:srgbClr val="F3F6FA"/>
          </a:solidFill>
          <a:ln w="19050">
            <a:solidFill>
              <a:srgbClr val="C9D3E0"/>
            </a:solidFill>
            <a:prstDash val="solid"/>
          </a:ln>
        </p:spPr>
      </p:sp>
      <p:sp>
        <p:nvSpPr>
          <p:cNvPr id="23" name="Номер 4 фон"/>
          <p:cNvSpPr/>
          <p:nvPr/>
        </p:nvSpPr>
        <p:spPr>
          <a:xfrm>
            <a:off x="11649456" y="2286000"/>
            <a:ext cx="822960" cy="82296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24" name="Номер 4"/>
          <p:cNvSpPr txBox="1"/>
          <p:nvPr/>
        </p:nvSpPr>
        <p:spPr>
          <a:xfrm>
            <a:off x="11649456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25" name="Шаг 4 заголовок"/>
          <p:cNvSpPr txBox="1"/>
          <p:nvPr/>
        </p:nvSpPr>
        <p:spPr>
          <a:xfrm>
            <a:off x="12609576" y="219456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Осмотри пострадавшего</a:t>
            </a:r>
            <a:endParaRPr lang="en-US" sz="2000" dirty="0"/>
          </a:p>
        </p:txBody>
      </p:sp>
      <p:sp>
        <p:nvSpPr>
          <p:cNvPr id="26" name="Шаг 4 текст"/>
          <p:cNvSpPr txBox="1"/>
          <p:nvPr/>
        </p:nvSpPr>
        <p:spPr>
          <a:xfrm>
            <a:off x="11649456" y="329184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 осмотри голову, шею, грудь, живот, руки и ноги. Ищи другие травмы.</a:t>
            </a:r>
            <a:endParaRPr lang="en-US" sz="1700" dirty="0"/>
          </a:p>
        </p:txBody>
      </p:sp>
      <p:sp>
        <p:nvSpPr>
          <p:cNvPr id="27" name="Карточка 5"/>
          <p:cNvSpPr/>
          <p:nvPr/>
        </p:nvSpPr>
        <p:spPr>
          <a:xfrm>
            <a:off x="640080" y="5303520"/>
            <a:ext cx="3429000" cy="3063240"/>
          </a:xfrm>
          <a:prstGeom prst="roundRect">
            <a:avLst>
              <a:gd name="adj" fmla="val 3582"/>
            </a:avLst>
          </a:prstGeom>
          <a:solidFill>
            <a:srgbClr val="F3F6FA"/>
          </a:solidFill>
          <a:ln w="19050">
            <a:solidFill>
              <a:srgbClr val="C9D3E0"/>
            </a:solidFill>
            <a:prstDash val="solid"/>
          </a:ln>
        </p:spPr>
      </p:sp>
      <p:sp>
        <p:nvSpPr>
          <p:cNvPr id="28" name="Номер 5 фон"/>
          <p:cNvSpPr/>
          <p:nvPr/>
        </p:nvSpPr>
        <p:spPr>
          <a:xfrm>
            <a:off x="868680" y="5532120"/>
            <a:ext cx="822960" cy="82296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29" name="Номер 5"/>
          <p:cNvSpPr txBox="1"/>
          <p:nvPr/>
        </p:nvSpPr>
        <p:spPr>
          <a:xfrm>
            <a:off x="868680" y="5532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30" name="Шаг 5 заголовок"/>
          <p:cNvSpPr txBox="1"/>
          <p:nvPr/>
        </p:nvSpPr>
        <p:spPr>
          <a:xfrm>
            <a:off x="1828800" y="54406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Окажи помощь по необходимости</a:t>
            </a:r>
            <a:endParaRPr lang="en-US" sz="2000" dirty="0"/>
          </a:p>
        </p:txBody>
      </p:sp>
      <p:sp>
        <p:nvSpPr>
          <p:cNvPr id="31" name="Шаг 5 текст"/>
          <p:cNvSpPr txBox="1"/>
          <p:nvPr/>
        </p:nvSpPr>
        <p:spPr>
          <a:xfrm>
            <a:off x="868680" y="653796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Охлади ожог, обездвижь повреждённую конечность, согрей, успокой.</a:t>
            </a:r>
            <a:endParaRPr lang="en-US" sz="1700" dirty="0"/>
          </a:p>
        </p:txBody>
      </p:sp>
      <p:sp>
        <p:nvSpPr>
          <p:cNvPr id="32" name="Карточка 6"/>
          <p:cNvSpPr/>
          <p:nvPr/>
        </p:nvSpPr>
        <p:spPr>
          <a:xfrm>
            <a:off x="4233672" y="5303520"/>
            <a:ext cx="3429000" cy="3063240"/>
          </a:xfrm>
          <a:prstGeom prst="roundRect">
            <a:avLst>
              <a:gd name="adj" fmla="val 3582"/>
            </a:avLst>
          </a:prstGeom>
          <a:solidFill>
            <a:srgbClr val="F3F6FA"/>
          </a:solidFill>
          <a:ln w="19050">
            <a:solidFill>
              <a:srgbClr val="C9D3E0"/>
            </a:solidFill>
            <a:prstDash val="solid"/>
          </a:ln>
        </p:spPr>
      </p:sp>
      <p:sp>
        <p:nvSpPr>
          <p:cNvPr id="33" name="Номер 6 фон"/>
          <p:cNvSpPr/>
          <p:nvPr/>
        </p:nvSpPr>
        <p:spPr>
          <a:xfrm>
            <a:off x="4462272" y="5532120"/>
            <a:ext cx="822960" cy="82296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4" name="Номер 6"/>
          <p:cNvSpPr txBox="1"/>
          <p:nvPr/>
        </p:nvSpPr>
        <p:spPr>
          <a:xfrm>
            <a:off x="4462272" y="5532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35" name="Шаг 6 заголовок"/>
          <p:cNvSpPr txBox="1"/>
          <p:nvPr/>
        </p:nvSpPr>
        <p:spPr>
          <a:xfrm>
            <a:off x="5422392" y="54406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Придай положение и вызови скорую</a:t>
            </a:r>
            <a:endParaRPr lang="en-US" sz="2000" dirty="0"/>
          </a:p>
        </p:txBody>
      </p:sp>
      <p:sp>
        <p:nvSpPr>
          <p:cNvPr id="36" name="Шаг 6 текст"/>
          <p:cNvSpPr txBox="1"/>
          <p:nvPr/>
        </p:nvSpPr>
        <p:spPr>
          <a:xfrm>
            <a:off x="4462272" y="653796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Положение зависит от состояния. Звони 103 или 112, назови адрес и что случилось.</a:t>
            </a:r>
            <a:endParaRPr lang="en-US" sz="1700" dirty="0"/>
          </a:p>
        </p:txBody>
      </p:sp>
      <p:sp>
        <p:nvSpPr>
          <p:cNvPr id="37" name="Карточка 7"/>
          <p:cNvSpPr/>
          <p:nvPr/>
        </p:nvSpPr>
        <p:spPr>
          <a:xfrm>
            <a:off x="7827264" y="5303520"/>
            <a:ext cx="3429000" cy="3063240"/>
          </a:xfrm>
          <a:prstGeom prst="roundRect">
            <a:avLst>
              <a:gd name="adj" fmla="val 3582"/>
            </a:avLst>
          </a:prstGeom>
          <a:solidFill>
            <a:srgbClr val="F3F6FA"/>
          </a:solidFill>
          <a:ln w="19050">
            <a:solidFill>
              <a:srgbClr val="C9D3E0"/>
            </a:solidFill>
            <a:prstDash val="solid"/>
          </a:ln>
        </p:spPr>
      </p:sp>
      <p:sp>
        <p:nvSpPr>
          <p:cNvPr id="38" name="Номер 7 фон"/>
          <p:cNvSpPr/>
          <p:nvPr/>
        </p:nvSpPr>
        <p:spPr>
          <a:xfrm>
            <a:off x="8055864" y="5532120"/>
            <a:ext cx="822960" cy="82296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9" name="Номер 7"/>
          <p:cNvSpPr txBox="1"/>
          <p:nvPr/>
        </p:nvSpPr>
        <p:spPr>
          <a:xfrm>
            <a:off x="8055864" y="5532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400" dirty="0"/>
          </a:p>
        </p:txBody>
      </p:sp>
      <p:sp>
        <p:nvSpPr>
          <p:cNvPr id="40" name="Шаг 7 заголовок"/>
          <p:cNvSpPr txBox="1"/>
          <p:nvPr/>
        </p:nvSpPr>
        <p:spPr>
          <a:xfrm>
            <a:off x="9015984" y="54406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Наблюдай до приезда скорой</a:t>
            </a:r>
            <a:endParaRPr lang="en-US" sz="2000" dirty="0"/>
          </a:p>
        </p:txBody>
      </p:sp>
      <p:sp>
        <p:nvSpPr>
          <p:cNvPr id="41" name="Шаг 7 текст"/>
          <p:cNvSpPr txBox="1"/>
          <p:nvPr/>
        </p:nvSpPr>
        <p:spPr>
          <a:xfrm>
            <a:off x="8055864" y="653796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Следи за дыханием и сознанием, говори с пострадавшим, расскажи медикам, что делали.</a:t>
            </a:r>
            <a:endParaRPr lang="en-US" sz="1700" dirty="0"/>
          </a:p>
        </p:txBody>
      </p:sp>
      <p:sp>
        <p:nvSpPr>
          <p:cNvPr id="42" name="Плашка правила"/>
          <p:cNvSpPr/>
          <p:nvPr/>
        </p:nvSpPr>
        <p:spPr>
          <a:xfrm>
            <a:off x="640080" y="8549640"/>
            <a:ext cx="13844016" cy="914400"/>
          </a:xfrm>
          <a:prstGeom prst="roundRect">
            <a:avLst>
              <a:gd name="adj" fmla="val 12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3" name="Текст правила"/>
          <p:cNvSpPr txBox="1"/>
          <p:nvPr/>
        </p:nvSpPr>
        <p:spPr>
          <a:xfrm>
            <a:off x="914400" y="8549640"/>
            <a:ext cx="1329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Запомни: </a:t>
            </a:r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рискуй собой. Не уверен — звони 103 или 112 и выполняй указания диспетчера.</a:t>
            </a:r>
            <a:endParaRPr lang="en-US" sz="2600" dirty="0"/>
          </a:p>
        </p:txBody>
      </p:sp>
      <p:sp>
        <p:nvSpPr>
          <p:cNvPr id="44" name="Блок номера"/>
          <p:cNvSpPr/>
          <p:nvPr/>
        </p:nvSpPr>
        <p:spPr>
          <a:xfrm>
            <a:off x="11420856" y="5303520"/>
            <a:ext cx="3429000" cy="3063240"/>
          </a:xfrm>
          <a:prstGeom prst="roundRect">
            <a:avLst>
              <a:gd name="adj" fmla="val 3582"/>
            </a:avLst>
          </a:prstGeom>
          <a:solidFill>
            <a:srgbClr val="FDECEA"/>
          </a:solidFill>
          <a:ln w="25400">
            <a:solidFill>
              <a:srgbClr val="E53935"/>
            </a:solidFill>
            <a:prstDash val="solid"/>
          </a:ln>
        </p:spPr>
      </p:sp>
      <p:sp>
        <p:nvSpPr>
          <p:cNvPr id="45" name="Номера"/>
          <p:cNvSpPr txBox="1"/>
          <p:nvPr/>
        </p:nvSpPr>
        <p:spPr>
          <a:xfrm>
            <a:off x="11420856" y="5303520"/>
            <a:ext cx="3429000" cy="3063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7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скорая помощь</a:t>
            </a:r>
            <a:endParaRPr lang="en-US" sz="72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— единый номер экстренных служб</a:t>
            </a:r>
            <a:endParaRPr lang="en-US" sz="7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5124176" cy="173736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Заголовок"/>
          <p:cNvSpPr txBox="1"/>
          <p:nvPr/>
        </p:nvSpPr>
        <p:spPr>
          <a:xfrm>
            <a:off x="640080" y="228600"/>
            <a:ext cx="1384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ПОЖАР: 5 ШАГОВ</a:t>
            </a:r>
            <a:endParaRPr lang="en-US" sz="5000" dirty="0"/>
          </a:p>
        </p:txBody>
      </p:sp>
      <p:sp>
        <p:nvSpPr>
          <p:cNvPr id="4" name="Подзаголовок"/>
          <p:cNvSpPr txBox="1"/>
          <p:nvPr/>
        </p:nvSpPr>
        <p:spPr>
          <a:xfrm>
            <a:off x="640080" y="1097280"/>
            <a:ext cx="1384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Крикни — позвони — выйди. В дыму на раздумья времени нет</a:t>
            </a:r>
            <a:endParaRPr lang="en-US" sz="2200" dirty="0"/>
          </a:p>
        </p:txBody>
      </p:sp>
      <p:sp>
        <p:nvSpPr>
          <p:cNvPr id="5" name="footer"/>
          <p:cNvSpPr/>
          <p:nvPr/>
        </p:nvSpPr>
        <p:spPr>
          <a:xfrm>
            <a:off x="0" y="10186416"/>
            <a:ext cx="15124176" cy="502920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6" name="Подвал"/>
          <p:cNvSpPr txBox="1"/>
          <p:nvPr/>
        </p:nvSpPr>
        <p:spPr>
          <a:xfrm>
            <a:off x="640080" y="10186416"/>
            <a:ext cx="1384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demin-obzr.ru · МБОУ СШ № 2 г. Лысково · ОБЗР</a:t>
            </a:r>
            <a:endParaRPr lang="en-US" sz="1600" dirty="0"/>
          </a:p>
        </p:txBody>
      </p:sp>
      <p:sp>
        <p:nvSpPr>
          <p:cNvPr id="7" name="Карточка 1"/>
          <p:cNvSpPr/>
          <p:nvPr/>
        </p:nvSpPr>
        <p:spPr>
          <a:xfrm>
            <a:off x="640080" y="2103120"/>
            <a:ext cx="2697480" cy="4480560"/>
          </a:xfrm>
          <a:prstGeom prst="roundRect">
            <a:avLst>
              <a:gd name="adj" fmla="val 4068"/>
            </a:avLst>
          </a:prstGeom>
          <a:solidFill>
            <a:srgbClr val="F3F6FA"/>
          </a:solidFill>
          <a:ln w="19050">
            <a:solidFill>
              <a:srgbClr val="C9D3E0"/>
            </a:solidFill>
            <a:prstDash val="solid"/>
          </a:ln>
        </p:spPr>
      </p:sp>
      <p:sp>
        <p:nvSpPr>
          <p:cNvPr id="8" name="Номер 1 фон"/>
          <p:cNvSpPr/>
          <p:nvPr/>
        </p:nvSpPr>
        <p:spPr>
          <a:xfrm>
            <a:off x="868680" y="2331720"/>
            <a:ext cx="822960" cy="82296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Номер 1"/>
          <p:cNvSpPr txBox="1"/>
          <p:nvPr/>
        </p:nvSpPr>
        <p:spPr>
          <a:xfrm>
            <a:off x="86868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10" name="Шаг 1 заголовок"/>
          <p:cNvSpPr txBox="1"/>
          <p:nvPr/>
        </p:nvSpPr>
        <p:spPr>
          <a:xfrm>
            <a:off x="868680" y="3291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Крикни «Пожар!»</a:t>
            </a:r>
            <a:endParaRPr lang="en-US" sz="2200" dirty="0"/>
          </a:p>
        </p:txBody>
      </p:sp>
      <p:sp>
        <p:nvSpPr>
          <p:cNvPr id="11" name="Шаг 1 текст"/>
          <p:cNvSpPr txBox="1"/>
          <p:nvPr/>
        </p:nvSpPr>
        <p:spPr>
          <a:xfrm>
            <a:off x="868680" y="4297680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Предупреди всех, кто рядом. Разбуди спящих.</a:t>
            </a:r>
            <a:endParaRPr lang="en-US" sz="1800" dirty="0"/>
          </a:p>
        </p:txBody>
      </p:sp>
      <p:sp>
        <p:nvSpPr>
          <p:cNvPr id="12" name="Карточка 2"/>
          <p:cNvSpPr/>
          <p:nvPr/>
        </p:nvSpPr>
        <p:spPr>
          <a:xfrm>
            <a:off x="3520440" y="2103120"/>
            <a:ext cx="2697480" cy="4480560"/>
          </a:xfrm>
          <a:prstGeom prst="roundRect">
            <a:avLst>
              <a:gd name="adj" fmla="val 4068"/>
            </a:avLst>
          </a:prstGeom>
          <a:solidFill>
            <a:srgbClr val="F3F6FA"/>
          </a:solidFill>
          <a:ln w="19050">
            <a:solidFill>
              <a:srgbClr val="C9D3E0"/>
            </a:solidFill>
            <a:prstDash val="solid"/>
          </a:ln>
        </p:spPr>
      </p:sp>
      <p:sp>
        <p:nvSpPr>
          <p:cNvPr id="13" name="Номер 2 фон"/>
          <p:cNvSpPr/>
          <p:nvPr/>
        </p:nvSpPr>
        <p:spPr>
          <a:xfrm>
            <a:off x="3749040" y="2331720"/>
            <a:ext cx="822960" cy="82296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4" name="Номер 2"/>
          <p:cNvSpPr txBox="1"/>
          <p:nvPr/>
        </p:nvSpPr>
        <p:spPr>
          <a:xfrm>
            <a:off x="374904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Шаг 2 заголовок"/>
          <p:cNvSpPr txBox="1"/>
          <p:nvPr/>
        </p:nvSpPr>
        <p:spPr>
          <a:xfrm>
            <a:off x="3749040" y="3291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Звони 101 или 112</a:t>
            </a:r>
            <a:endParaRPr lang="en-US" sz="2200" dirty="0"/>
          </a:p>
        </p:txBody>
      </p:sp>
      <p:sp>
        <p:nvSpPr>
          <p:cNvPr id="16" name="Шаг 2 текст"/>
          <p:cNvSpPr txBox="1"/>
          <p:nvPr/>
        </p:nvSpPr>
        <p:spPr>
          <a:xfrm>
            <a:off x="3749040" y="4297680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Назови адрес, этаж и что горит. Не клади трубку первым.</a:t>
            </a:r>
            <a:endParaRPr lang="en-US" sz="1800" dirty="0"/>
          </a:p>
        </p:txBody>
      </p:sp>
      <p:sp>
        <p:nvSpPr>
          <p:cNvPr id="17" name="Карточка 3"/>
          <p:cNvSpPr/>
          <p:nvPr/>
        </p:nvSpPr>
        <p:spPr>
          <a:xfrm>
            <a:off x="6400800" y="2103120"/>
            <a:ext cx="2697480" cy="4480560"/>
          </a:xfrm>
          <a:prstGeom prst="roundRect">
            <a:avLst>
              <a:gd name="adj" fmla="val 4068"/>
            </a:avLst>
          </a:prstGeom>
          <a:solidFill>
            <a:srgbClr val="F3F6FA"/>
          </a:solidFill>
          <a:ln w="19050">
            <a:solidFill>
              <a:srgbClr val="C9D3E0"/>
            </a:solidFill>
            <a:prstDash val="solid"/>
          </a:ln>
        </p:spPr>
      </p:sp>
      <p:sp>
        <p:nvSpPr>
          <p:cNvPr id="18" name="Номер 3 фон"/>
          <p:cNvSpPr/>
          <p:nvPr/>
        </p:nvSpPr>
        <p:spPr>
          <a:xfrm>
            <a:off x="6629400" y="2331720"/>
            <a:ext cx="822960" cy="82296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9" name="Номер 3"/>
          <p:cNvSpPr txBox="1"/>
          <p:nvPr/>
        </p:nvSpPr>
        <p:spPr>
          <a:xfrm>
            <a:off x="662940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20" name="Шаг 3 заголовок"/>
          <p:cNvSpPr txBox="1"/>
          <p:nvPr/>
        </p:nvSpPr>
        <p:spPr>
          <a:xfrm>
            <a:off x="6629400" y="3291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Выходи и закрой дверь</a:t>
            </a:r>
            <a:endParaRPr lang="en-US" sz="2200" dirty="0"/>
          </a:p>
        </p:txBody>
      </p:sp>
      <p:sp>
        <p:nvSpPr>
          <p:cNvPr id="21" name="Шаг 3 текст"/>
          <p:cNvSpPr txBox="1"/>
          <p:nvPr/>
        </p:nvSpPr>
        <p:spPr>
          <a:xfrm>
            <a:off x="6629400" y="4297680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Закрытая дверь сдерживает огонь и дым. Лифтом не пользуйся.</a:t>
            </a:r>
            <a:endParaRPr lang="en-US" sz="1800" dirty="0"/>
          </a:p>
        </p:txBody>
      </p:sp>
      <p:sp>
        <p:nvSpPr>
          <p:cNvPr id="22" name="Карточка 4"/>
          <p:cNvSpPr/>
          <p:nvPr/>
        </p:nvSpPr>
        <p:spPr>
          <a:xfrm>
            <a:off x="9281160" y="2103120"/>
            <a:ext cx="2697480" cy="4480560"/>
          </a:xfrm>
          <a:prstGeom prst="roundRect">
            <a:avLst>
              <a:gd name="adj" fmla="val 4068"/>
            </a:avLst>
          </a:prstGeom>
          <a:solidFill>
            <a:srgbClr val="F3F6FA"/>
          </a:solidFill>
          <a:ln w="19050">
            <a:solidFill>
              <a:srgbClr val="C9D3E0"/>
            </a:solidFill>
            <a:prstDash val="solid"/>
          </a:ln>
        </p:spPr>
      </p:sp>
      <p:sp>
        <p:nvSpPr>
          <p:cNvPr id="23" name="Номер 4 фон"/>
          <p:cNvSpPr/>
          <p:nvPr/>
        </p:nvSpPr>
        <p:spPr>
          <a:xfrm>
            <a:off x="9509760" y="2331720"/>
            <a:ext cx="822960" cy="82296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4" name="Номер 4"/>
          <p:cNvSpPr txBox="1"/>
          <p:nvPr/>
        </p:nvSpPr>
        <p:spPr>
          <a:xfrm>
            <a:off x="950976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25" name="Шаг 4 заголовок"/>
          <p:cNvSpPr txBox="1"/>
          <p:nvPr/>
        </p:nvSpPr>
        <p:spPr>
          <a:xfrm>
            <a:off x="9509760" y="3291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дыму — низко</a:t>
            </a:r>
            <a:endParaRPr lang="en-US" sz="2200" dirty="0"/>
          </a:p>
        </p:txBody>
      </p:sp>
      <p:sp>
        <p:nvSpPr>
          <p:cNvPr id="26" name="Шаг 4 текст"/>
          <p:cNvSpPr txBox="1"/>
          <p:nvPr/>
        </p:nvSpPr>
        <p:spPr>
          <a:xfrm>
            <a:off x="9509760" y="4297680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Пригнись, закрой нос и рот влажной тканью, держись стены.</a:t>
            </a:r>
            <a:endParaRPr lang="en-US" sz="1800" dirty="0"/>
          </a:p>
        </p:txBody>
      </p:sp>
      <p:sp>
        <p:nvSpPr>
          <p:cNvPr id="27" name="Карточка 5"/>
          <p:cNvSpPr/>
          <p:nvPr/>
        </p:nvSpPr>
        <p:spPr>
          <a:xfrm>
            <a:off x="12161520" y="2103120"/>
            <a:ext cx="2697480" cy="4480560"/>
          </a:xfrm>
          <a:prstGeom prst="roundRect">
            <a:avLst>
              <a:gd name="adj" fmla="val 4068"/>
            </a:avLst>
          </a:prstGeom>
          <a:solidFill>
            <a:srgbClr val="F3F6FA"/>
          </a:solidFill>
          <a:ln w="19050">
            <a:solidFill>
              <a:srgbClr val="C9D3E0"/>
            </a:solidFill>
            <a:prstDash val="solid"/>
          </a:ln>
        </p:spPr>
      </p:sp>
      <p:sp>
        <p:nvSpPr>
          <p:cNvPr id="28" name="Номер 5 фон"/>
          <p:cNvSpPr/>
          <p:nvPr/>
        </p:nvSpPr>
        <p:spPr>
          <a:xfrm>
            <a:off x="12390120" y="2331720"/>
            <a:ext cx="822960" cy="82296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9" name="Номер 5"/>
          <p:cNvSpPr txBox="1"/>
          <p:nvPr/>
        </p:nvSpPr>
        <p:spPr>
          <a:xfrm>
            <a:off x="1239012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30" name="Шаг 5 заголовок"/>
          <p:cNvSpPr txBox="1"/>
          <p:nvPr/>
        </p:nvSpPr>
        <p:spPr>
          <a:xfrm>
            <a:off x="12390120" y="3291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возвращайся</a:t>
            </a:r>
            <a:endParaRPr lang="en-US" sz="2200" dirty="0"/>
          </a:p>
        </p:txBody>
      </p:sp>
      <p:sp>
        <p:nvSpPr>
          <p:cNvPr id="31" name="Шаг 5 текст"/>
          <p:cNvSpPr txBox="1"/>
          <p:nvPr/>
        </p:nvSpPr>
        <p:spPr>
          <a:xfrm>
            <a:off x="12390120" y="4297680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вещами и животными — никогда. Встреть пожарных и расскажи, что знаешь.</a:t>
            </a:r>
            <a:endParaRPr lang="en-US" sz="1800" dirty="0"/>
          </a:p>
        </p:txBody>
      </p:sp>
      <p:sp>
        <p:nvSpPr>
          <p:cNvPr id="32" name="Блок нельзя"/>
          <p:cNvSpPr/>
          <p:nvPr/>
        </p:nvSpPr>
        <p:spPr>
          <a:xfrm>
            <a:off x="640080" y="6812280"/>
            <a:ext cx="13844016" cy="1645920"/>
          </a:xfrm>
          <a:prstGeom prst="roundRect">
            <a:avLst>
              <a:gd name="adj" fmla="val 6667"/>
            </a:avLst>
          </a:prstGeom>
          <a:solidFill>
            <a:srgbClr val="FDECEA"/>
          </a:solidFill>
          <a:ln w="25400">
            <a:solidFill>
              <a:srgbClr val="E53935"/>
            </a:solidFill>
            <a:prstDash val="solid"/>
          </a:ln>
        </p:spPr>
      </p:sp>
      <p:sp>
        <p:nvSpPr>
          <p:cNvPr id="33" name="Текст нельзя"/>
          <p:cNvSpPr txBox="1"/>
          <p:nvPr/>
        </p:nvSpPr>
        <p:spPr>
          <a:xfrm>
            <a:off x="914400" y="6812280"/>
            <a:ext cx="132953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НЕЛЬЗЯ: </a:t>
            </a:r>
            <a:pPr indent="0" marL="0">
              <a:buNone/>
            </a:pPr>
            <a:r>
              <a:rPr lang="en-US" sz="2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прятаться под кроватью и в шкафу · бежать через сильное задымление · открывать дверь, если за ней горячо · тушить водой горящее масло и электроприборы</a:t>
            </a:r>
            <a:endParaRPr lang="en-US" sz="2400" dirty="0"/>
          </a:p>
        </p:txBody>
      </p:sp>
      <p:sp>
        <p:nvSpPr>
          <p:cNvPr id="34" name="Плашка правила"/>
          <p:cNvSpPr/>
          <p:nvPr/>
        </p:nvSpPr>
        <p:spPr>
          <a:xfrm>
            <a:off x="640080" y="8641080"/>
            <a:ext cx="13844016" cy="1234440"/>
          </a:xfrm>
          <a:prstGeom prst="roundRect">
            <a:avLst>
              <a:gd name="adj" fmla="val 8889"/>
            </a:avLst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5" name="Текст правила"/>
          <p:cNvSpPr txBox="1"/>
          <p:nvPr/>
        </p:nvSpPr>
        <p:spPr>
          <a:xfrm>
            <a:off x="914400" y="8641080"/>
            <a:ext cx="132953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Помни: </a:t>
            </a:r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школе действуй по плану эвакуации и указаниям педагога.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5124176" cy="1737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Заголовок"/>
          <p:cNvSpPr txBox="1"/>
          <p:nvPr/>
        </p:nvSpPr>
        <p:spPr>
          <a:xfrm>
            <a:off x="640080" y="228600"/>
            <a:ext cx="1384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ЭВАКУАЦИИ</a:t>
            </a:r>
            <a:endParaRPr lang="en-US" sz="5000" dirty="0"/>
          </a:p>
        </p:txBody>
      </p:sp>
      <p:sp>
        <p:nvSpPr>
          <p:cNvPr id="4" name="Подзаголовок"/>
          <p:cNvSpPr txBox="1"/>
          <p:nvPr/>
        </p:nvSpPr>
        <p:spPr>
          <a:xfrm>
            <a:off x="640080" y="1097280"/>
            <a:ext cx="1384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Шаблон: вставьте поэтажный план, расставьте значки, укажите кабинет и этаж</a:t>
            </a:r>
            <a:endParaRPr lang="en-US" sz="2200" dirty="0"/>
          </a:p>
        </p:txBody>
      </p:sp>
      <p:sp>
        <p:nvSpPr>
          <p:cNvPr id="5" name="footer"/>
          <p:cNvSpPr/>
          <p:nvPr/>
        </p:nvSpPr>
        <p:spPr>
          <a:xfrm>
            <a:off x="0" y="10186416"/>
            <a:ext cx="15124176" cy="502920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6" name="Подвал"/>
          <p:cNvSpPr txBox="1"/>
          <p:nvPr/>
        </p:nvSpPr>
        <p:spPr>
          <a:xfrm>
            <a:off x="640080" y="10186416"/>
            <a:ext cx="1384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demin-obzr.ru · МБОУ СШ № 2 г. Лысково · ОБЗР</a:t>
            </a:r>
            <a:endParaRPr lang="en-US" sz="1600" dirty="0"/>
          </a:p>
        </p:txBody>
      </p:sp>
      <p:sp>
        <p:nvSpPr>
          <p:cNvPr id="7" name="Рамка плана"/>
          <p:cNvSpPr/>
          <p:nvPr/>
        </p:nvSpPr>
        <p:spPr>
          <a:xfrm>
            <a:off x="640080" y="2103120"/>
            <a:ext cx="10241280" cy="7680960"/>
          </a:xfrm>
          <a:prstGeom prst="rect">
            <a:avLst/>
          </a:prstGeom>
          <a:solidFill>
            <a:srgbClr val="FFFFFF"/>
          </a:solidFill>
          <a:ln w="25400">
            <a:solidFill>
              <a:srgbClr val="6B7280"/>
            </a:solidFill>
            <a:prstDash val="dash"/>
          </a:ln>
        </p:spPr>
      </p:sp>
      <p:sp>
        <p:nvSpPr>
          <p:cNvPr id="8" name="Подсказка плана"/>
          <p:cNvSpPr txBox="1"/>
          <p:nvPr/>
        </p:nvSpPr>
        <p:spPr>
          <a:xfrm>
            <a:off x="640080" y="2103120"/>
            <a:ext cx="10241280" cy="76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Здесь разместите план этажа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(фото или схема)</a:t>
            </a:r>
            <a:endParaRPr lang="en-US" sz="2800" dirty="0"/>
          </a:p>
        </p:txBody>
      </p:sp>
      <p:sp>
        <p:nvSpPr>
          <p:cNvPr id="9" name="Легенда заголовок"/>
          <p:cNvSpPr txBox="1"/>
          <p:nvPr/>
        </p:nvSpPr>
        <p:spPr>
          <a:xfrm>
            <a:off x="11155680" y="2103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Условные обозначения</a:t>
            </a:r>
            <a:endParaRPr lang="en-US" sz="2200" dirty="0"/>
          </a:p>
        </p:txBody>
      </p:sp>
      <p:sp>
        <p:nvSpPr>
          <p:cNvPr id="10" name="Значок Вы здесь"/>
          <p:cNvSpPr/>
          <p:nvPr/>
        </p:nvSpPr>
        <p:spPr>
          <a:xfrm>
            <a:off x="11155680" y="2743200"/>
            <a:ext cx="548640" cy="54864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Легенда Вы здесь"/>
          <p:cNvSpPr txBox="1"/>
          <p:nvPr/>
        </p:nvSpPr>
        <p:spPr>
          <a:xfrm>
            <a:off x="11887200" y="2743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здесь</a:t>
            </a:r>
            <a:endParaRPr lang="en-US" sz="2000" dirty="0"/>
          </a:p>
        </p:txBody>
      </p:sp>
      <p:sp>
        <p:nvSpPr>
          <p:cNvPr id="12" name="Значок Основной выход"/>
          <p:cNvSpPr/>
          <p:nvPr/>
        </p:nvSpPr>
        <p:spPr>
          <a:xfrm>
            <a:off x="11155680" y="3520440"/>
            <a:ext cx="548640" cy="54864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Легенда Основной выход"/>
          <p:cNvSpPr txBox="1"/>
          <p:nvPr/>
        </p:nvSpPr>
        <p:spPr>
          <a:xfrm>
            <a:off x="11887200" y="3520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выход</a:t>
            </a:r>
            <a:endParaRPr lang="en-US" sz="2000" dirty="0"/>
          </a:p>
        </p:txBody>
      </p:sp>
      <p:sp>
        <p:nvSpPr>
          <p:cNvPr id="14" name="Значок Запасной выход"/>
          <p:cNvSpPr/>
          <p:nvPr/>
        </p:nvSpPr>
        <p:spPr>
          <a:xfrm>
            <a:off x="11155680" y="4297680"/>
            <a:ext cx="548640" cy="548640"/>
          </a:xfrm>
          <a:prstGeom prst="round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5" name="Легенда Запасной выход"/>
          <p:cNvSpPr txBox="1"/>
          <p:nvPr/>
        </p:nvSpPr>
        <p:spPr>
          <a:xfrm>
            <a:off x="11887200" y="4297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Запасной выход</a:t>
            </a:r>
            <a:endParaRPr lang="en-US" sz="2000" dirty="0"/>
          </a:p>
        </p:txBody>
      </p:sp>
      <p:sp>
        <p:nvSpPr>
          <p:cNvPr id="16" name="Значок Огнетушитель"/>
          <p:cNvSpPr/>
          <p:nvPr/>
        </p:nvSpPr>
        <p:spPr>
          <a:xfrm>
            <a:off x="11155680" y="5074920"/>
            <a:ext cx="548640" cy="548640"/>
          </a:xfrm>
          <a:prstGeom prst="round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Легенда Огнетушитель"/>
          <p:cNvSpPr txBox="1"/>
          <p:nvPr/>
        </p:nvSpPr>
        <p:spPr>
          <a:xfrm>
            <a:off x="11887200" y="5074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Огнетушитель</a:t>
            </a:r>
            <a:endParaRPr lang="en-US" sz="2000" dirty="0"/>
          </a:p>
        </p:txBody>
      </p:sp>
      <p:sp>
        <p:nvSpPr>
          <p:cNvPr id="18" name="Значок Аптечка"/>
          <p:cNvSpPr/>
          <p:nvPr/>
        </p:nvSpPr>
        <p:spPr>
          <a:xfrm>
            <a:off x="11155680" y="5852160"/>
            <a:ext cx="548640" cy="548640"/>
          </a:xfrm>
          <a:prstGeom prst="round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19" name="Легенда Аптечка"/>
          <p:cNvSpPr txBox="1"/>
          <p:nvPr/>
        </p:nvSpPr>
        <p:spPr>
          <a:xfrm>
            <a:off x="11887200" y="5852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Аптечка</a:t>
            </a:r>
            <a:endParaRPr lang="en-US" sz="2000" dirty="0"/>
          </a:p>
        </p:txBody>
      </p:sp>
      <p:sp>
        <p:nvSpPr>
          <p:cNvPr id="20" name="Значок Место сбора"/>
          <p:cNvSpPr/>
          <p:nvPr/>
        </p:nvSpPr>
        <p:spPr>
          <a:xfrm>
            <a:off x="11155680" y="6629400"/>
            <a:ext cx="548640" cy="54864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21" name="Легенда Место сбора"/>
          <p:cNvSpPr txBox="1"/>
          <p:nvPr/>
        </p:nvSpPr>
        <p:spPr>
          <a:xfrm>
            <a:off x="11887200" y="6629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сбора</a:t>
            </a:r>
            <a:endParaRPr lang="en-US" sz="2000" dirty="0"/>
          </a:p>
        </p:txBody>
      </p:sp>
      <p:sp>
        <p:nvSpPr>
          <p:cNvPr id="22" name="Блок данных"/>
          <p:cNvSpPr/>
          <p:nvPr/>
        </p:nvSpPr>
        <p:spPr>
          <a:xfrm>
            <a:off x="11155680" y="749808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23" name="Данные"/>
          <p:cNvSpPr txBox="1"/>
          <p:nvPr/>
        </p:nvSpPr>
        <p:spPr>
          <a:xfrm>
            <a:off x="11155680" y="7498080"/>
            <a:ext cx="3383280" cy="2286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пожаре:</a:t>
            </a:r>
            <a:endParaRPr lang="en-US" sz="2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или 112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Кабинет №___  Этаж ___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5124176" cy="1737360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" name="Заголовок"/>
          <p:cNvSpPr txBox="1"/>
          <p:nvPr/>
        </p:nvSpPr>
        <p:spPr>
          <a:xfrm>
            <a:off x="640080" y="228600"/>
            <a:ext cx="1384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ТЕЛЕФОНЫ ЭКСТРЕННЫХ СЛУЖБ</a:t>
            </a:r>
            <a:endParaRPr lang="en-US" sz="3800" dirty="0"/>
          </a:p>
        </p:txBody>
      </p:sp>
      <p:sp>
        <p:nvSpPr>
          <p:cNvPr id="4" name="Подзаголовок"/>
          <p:cNvSpPr txBox="1"/>
          <p:nvPr/>
        </p:nvSpPr>
        <p:spPr>
          <a:xfrm>
            <a:off x="640080" y="1097280"/>
            <a:ext cx="1384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Звонок бесплатный. Называй адрес, что случилось, свою фамилию</a:t>
            </a:r>
            <a:endParaRPr lang="en-US" sz="2200" dirty="0"/>
          </a:p>
        </p:txBody>
      </p:sp>
      <p:sp>
        <p:nvSpPr>
          <p:cNvPr id="5" name="footer"/>
          <p:cNvSpPr/>
          <p:nvPr/>
        </p:nvSpPr>
        <p:spPr>
          <a:xfrm>
            <a:off x="0" y="10186416"/>
            <a:ext cx="15124176" cy="502920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6" name="Подвал"/>
          <p:cNvSpPr txBox="1"/>
          <p:nvPr/>
        </p:nvSpPr>
        <p:spPr>
          <a:xfrm>
            <a:off x="640080" y="10186416"/>
            <a:ext cx="1384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demin-obzr.ru · МБОУ СШ № 2 г. Лысково · ОБЗР</a:t>
            </a:r>
            <a:endParaRPr lang="en-US" sz="1600" dirty="0"/>
          </a:p>
        </p:txBody>
      </p:sp>
      <p:sp>
        <p:nvSpPr>
          <p:cNvPr id="7" name="Номер 112"/>
          <p:cNvSpPr/>
          <p:nvPr/>
        </p:nvSpPr>
        <p:spPr>
          <a:xfrm>
            <a:off x="640080" y="2103120"/>
            <a:ext cx="4572000" cy="3383280"/>
          </a:xfrm>
          <a:prstGeom prst="roundRect">
            <a:avLst>
              <a:gd name="adj" fmla="val 3243"/>
            </a:avLst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8" name="Номер 112 текст"/>
          <p:cNvSpPr txBox="1"/>
          <p:nvPr/>
        </p:nvSpPr>
        <p:spPr>
          <a:xfrm>
            <a:off x="640080" y="2103120"/>
            <a:ext cx="4572000" cy="338328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80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номер экстренных служб</a:t>
            </a:r>
            <a:endParaRPr lang="en-US" sz="8000" dirty="0"/>
          </a:p>
        </p:txBody>
      </p:sp>
      <p:sp>
        <p:nvSpPr>
          <p:cNvPr id="9" name="Номер 101"/>
          <p:cNvSpPr/>
          <p:nvPr/>
        </p:nvSpPr>
        <p:spPr>
          <a:xfrm>
            <a:off x="5394960" y="2103120"/>
            <a:ext cx="4572000" cy="3383280"/>
          </a:xfrm>
          <a:prstGeom prst="roundRect">
            <a:avLst>
              <a:gd name="adj" fmla="val 324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0" name="Номер 101 текст"/>
          <p:cNvSpPr txBox="1"/>
          <p:nvPr/>
        </p:nvSpPr>
        <p:spPr>
          <a:xfrm>
            <a:off x="5394960" y="2103120"/>
            <a:ext cx="4572000" cy="338328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80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Пожарная охрана и спасатели</a:t>
            </a:r>
            <a:endParaRPr lang="en-US" sz="8000" dirty="0"/>
          </a:p>
        </p:txBody>
      </p:sp>
      <p:sp>
        <p:nvSpPr>
          <p:cNvPr id="11" name="Номер 102"/>
          <p:cNvSpPr/>
          <p:nvPr/>
        </p:nvSpPr>
        <p:spPr>
          <a:xfrm>
            <a:off x="10149840" y="2103120"/>
            <a:ext cx="4572000" cy="3383280"/>
          </a:xfrm>
          <a:prstGeom prst="roundRect">
            <a:avLst>
              <a:gd name="adj" fmla="val 3243"/>
            </a:avLst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12" name="Номер 102 текст"/>
          <p:cNvSpPr txBox="1"/>
          <p:nvPr/>
        </p:nvSpPr>
        <p:spPr>
          <a:xfrm>
            <a:off x="10149840" y="2103120"/>
            <a:ext cx="4572000" cy="338328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80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Полиция</a:t>
            </a:r>
            <a:endParaRPr lang="en-US" sz="8000" dirty="0"/>
          </a:p>
        </p:txBody>
      </p:sp>
      <p:sp>
        <p:nvSpPr>
          <p:cNvPr id="13" name="Номер 103"/>
          <p:cNvSpPr/>
          <p:nvPr/>
        </p:nvSpPr>
        <p:spPr>
          <a:xfrm>
            <a:off x="640080" y="5669280"/>
            <a:ext cx="4572000" cy="3383280"/>
          </a:xfrm>
          <a:prstGeom prst="roundRect">
            <a:avLst>
              <a:gd name="adj" fmla="val 324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4" name="Номер 103 текст"/>
          <p:cNvSpPr txBox="1"/>
          <p:nvPr/>
        </p:nvSpPr>
        <p:spPr>
          <a:xfrm>
            <a:off x="640080" y="5669280"/>
            <a:ext cx="4572000" cy="338328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80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Скорая медицинская помощь</a:t>
            </a:r>
            <a:endParaRPr lang="en-US" sz="8000" dirty="0"/>
          </a:p>
        </p:txBody>
      </p:sp>
      <p:sp>
        <p:nvSpPr>
          <p:cNvPr id="15" name="Номер 104"/>
          <p:cNvSpPr/>
          <p:nvPr/>
        </p:nvSpPr>
        <p:spPr>
          <a:xfrm>
            <a:off x="5394960" y="5669280"/>
            <a:ext cx="4572000" cy="3383280"/>
          </a:xfrm>
          <a:prstGeom prst="roundRect">
            <a:avLst>
              <a:gd name="adj" fmla="val 3243"/>
            </a:avLst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6" name="Номер 104 текст"/>
          <p:cNvSpPr txBox="1"/>
          <p:nvPr/>
        </p:nvSpPr>
        <p:spPr>
          <a:xfrm>
            <a:off x="5394960" y="5669280"/>
            <a:ext cx="4572000" cy="338328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80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Аварийная газовая служба</a:t>
            </a:r>
            <a:endParaRPr lang="en-US" sz="8000" dirty="0"/>
          </a:p>
        </p:txBody>
      </p:sp>
      <p:sp>
        <p:nvSpPr>
          <p:cNvPr id="17" name="Номер 8-800-2000-122"/>
          <p:cNvSpPr/>
          <p:nvPr/>
        </p:nvSpPr>
        <p:spPr>
          <a:xfrm>
            <a:off x="10149840" y="5669280"/>
            <a:ext cx="4572000" cy="3383280"/>
          </a:xfrm>
          <a:prstGeom prst="roundRect">
            <a:avLst>
              <a:gd name="adj" fmla="val 324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Номер 8-800-2000-122 текст"/>
          <p:cNvSpPr txBox="1"/>
          <p:nvPr/>
        </p:nvSpPr>
        <p:spPr>
          <a:xfrm>
            <a:off x="10149840" y="5669280"/>
            <a:ext cx="4572000" cy="338328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8-800-2000-122</a:t>
            </a:r>
            <a:endParaRPr lang="en-US" sz="4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Детский телефон доверия (с мобильного 124)</a:t>
            </a:r>
            <a:endParaRPr lang="en-US" sz="4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640080" y="457200"/>
            <a:ext cx="1384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использовать шаблоны (этот слайд не печатать)</a:t>
            </a:r>
            <a:endParaRPr lang="en-US" sz="4000" dirty="0"/>
          </a:p>
        </p:txBody>
      </p:sp>
      <p:sp>
        <p:nvSpPr>
          <p:cNvPr id="3" name="Инструкция"/>
          <p:cNvSpPr txBox="1"/>
          <p:nvPr/>
        </p:nvSpPr>
        <p:spPr>
          <a:xfrm>
            <a:off x="640080" y="1645920"/>
            <a:ext cx="13844016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Откройте Canva → «Создать дизайн» → «Импортировать файл» и загрузите этот PPTX. Либо откройте файл в PowerPoint.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Размер слайда A3 (420 × 297 мм), альбомная ориентация. Печать — в школе или типографии.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Замените текст, цвета и значки на свои. Добавьте логотип школы.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Проверьте алгоритмы и номера по официальным источникам (МЧС, Минздрав) и по вашей школе.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План эвакуации по требованиям пожарной безопасности оформляется по установленным правилам; шаблон — только основа.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Шрифт: читается с расстояния 3 метра; контраст не снижайте.</a:t>
            </a:r>
            <a:endParaRPr lang="en-US" sz="2600" dirty="0"/>
          </a:p>
        </p:txBody>
      </p:sp>
      <p:sp>
        <p:nvSpPr>
          <p:cNvPr id="4" name="ИИ-пометка"/>
          <p:cNvSpPr txBox="1"/>
          <p:nvPr/>
        </p:nvSpPr>
        <p:spPr>
          <a:xfrm>
            <a:off x="640080" y="9500616"/>
            <a:ext cx="13844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 подготовлен с использованием инструментов искусственного интеллекта и проверен преподавателем. Носит методический и рекомендательный характер.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Шаблоны плакатов для кабинета ОБЗР (A3)</dc:title>
  <dc:subject>PptxGenJS Presentation</dc:subject>
  <dc:creator>Дёмин А.Ю.</dc:creator>
  <cp:lastModifiedBy>Дёмин А.Ю.</cp:lastModifiedBy>
  <cp:revision>1</cp:revision>
  <dcterms:created xsi:type="dcterms:W3CDTF">2026-10-30T16:17:35Z</dcterms:created>
  <dcterms:modified xsi:type="dcterms:W3CDTF">2026-10-30T16:17:35Z</dcterms:modified>
</cp:coreProperties>
</file>