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3D7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566160"/>
            <a:ext cx="9144000" cy="73152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ГОТОВИМСЯ К «ЗАРНИЦЕ 2.0»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21031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CE6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Всероссийская военно-патриотическая игра · сезон 2026–2027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25603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CE6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Презентация для участников, родителей и наставников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39319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МБОУ СШ № 2 г. Лысково · преподаватель-организатор ОБЗР Дёмин А. Ю.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03D7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54864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такое «Зарница 2.0»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«Зарница 2.0» · 2026–2027 · МБОУ СШ № 2 г. Лысково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22960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1188720"/>
            <a:ext cx="80467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Командная военно-патриотическая игра для школьников и студентов: спорт, знания и работа в отряде</a:t>
            </a:r>
            <a:endParaRPr lang="en-US" sz="19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Организаторы: ВВПОД «ЮНАРМИЯ», Движение Первых, Центр «ВОИН»</a:t>
            </a:r>
            <a:endParaRPr lang="en-US" sz="19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Состязания по ролям и отрядные: от топографии и первой помощи до управления БПА</a:t>
            </a:r>
            <a:endParaRPr lang="en-US" sz="19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Вся организация — на платформе зарница.будьвдвижении.рф</a:t>
            </a:r>
            <a:endParaRPr lang="en-US" sz="19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Идея игры родилась в 1964 году, а современный формат — цифровой и командный</a:t>
            </a:r>
            <a:endParaRPr lang="en-US" sz="1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03D7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54864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Возрастные категории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«Зарница 2.0» · 2026–2027 · МБОУ СШ № 2 г. Лысково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22960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2621280" cy="1920240"/>
          </a:xfrm>
          <a:prstGeom prst="rect">
            <a:avLst/>
          </a:prstGeom>
          <a:solidFill>
            <a:srgbClr val="F5F7FA"/>
          </a:solidFill>
          <a:ln w="9525">
            <a:solidFill>
              <a:srgbClr val="D5DCE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88720"/>
            <a:ext cx="64008" cy="1920240"/>
          </a:xfrm>
          <a:prstGeom prst="rect">
            <a:avLst/>
          </a:prstGeom>
          <a:solidFill>
            <a:srgbClr val="003D7A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261872"/>
            <a:ext cx="234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Младшая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" y="1645920"/>
            <a:ext cx="2346960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7–10 лет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родившиеся с 01.10.2015 по 30.09.2018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261360" y="1188720"/>
            <a:ext cx="2621280" cy="1920240"/>
          </a:xfrm>
          <a:prstGeom prst="rect">
            <a:avLst/>
          </a:prstGeom>
          <a:solidFill>
            <a:srgbClr val="F5F7FA"/>
          </a:solidFill>
          <a:ln w="9525">
            <a:solidFill>
              <a:srgbClr val="D5DCE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61360" y="1188720"/>
            <a:ext cx="64008" cy="1920240"/>
          </a:xfrm>
          <a:prstGeom prst="rect">
            <a:avLst/>
          </a:prstGeom>
          <a:solidFill>
            <a:srgbClr val="003D7A"/>
          </a:solidFill>
          <a:ln/>
        </p:spPr>
      </p:sp>
      <p:sp>
        <p:nvSpPr>
          <p:cNvPr id="13" name="Text 11"/>
          <p:cNvSpPr/>
          <p:nvPr/>
        </p:nvSpPr>
        <p:spPr>
          <a:xfrm>
            <a:off x="3444240" y="1261872"/>
            <a:ext cx="234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Средняя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444240" y="1645920"/>
            <a:ext cx="2346960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11–13 лет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родившиеся с 01.10.2012 по 30.09.2015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065520" y="1188720"/>
            <a:ext cx="2621280" cy="1920240"/>
          </a:xfrm>
          <a:prstGeom prst="rect">
            <a:avLst/>
          </a:prstGeom>
          <a:solidFill>
            <a:srgbClr val="F5F7FA"/>
          </a:solidFill>
          <a:ln w="9525">
            <a:solidFill>
              <a:srgbClr val="D5DCE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065520" y="1188720"/>
            <a:ext cx="64008" cy="1920240"/>
          </a:xfrm>
          <a:prstGeom prst="rect">
            <a:avLst/>
          </a:prstGeom>
          <a:solidFill>
            <a:srgbClr val="003D7A"/>
          </a:solidFill>
          <a:ln/>
        </p:spPr>
      </p:sp>
      <p:sp>
        <p:nvSpPr>
          <p:cNvPr id="17" name="Text 15"/>
          <p:cNvSpPr/>
          <p:nvPr/>
        </p:nvSpPr>
        <p:spPr>
          <a:xfrm>
            <a:off x="6248400" y="1261872"/>
            <a:ext cx="234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Старшая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248400" y="1645920"/>
            <a:ext cx="2346960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14–17 лет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родившиеся с 01.10.2008 по 30.09.2012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57200" y="34747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Категория определяется по дате рождения, а не по классу. Специальная категория — студенты СПО и вузов. Каждая категория участвует в этапах самостоятельно.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03D7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54864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Этапы игры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«Зарница 2.0» · 2026–2027 · МБОУ СШ № 2 г. Лысково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22960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1463040"/>
            <a:ext cx="1280160" cy="100584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1463040"/>
            <a:ext cx="1280160" cy="10058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Отборочный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(в школе)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627632" y="1463040"/>
            <a:ext cx="182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F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1783080" y="1463040"/>
            <a:ext cx="1280160" cy="1005840"/>
          </a:xfrm>
          <a:prstGeom prst="rect">
            <a:avLst/>
          </a:prstGeom>
          <a:solidFill>
            <a:srgbClr val="003D7A"/>
          </a:solidFill>
          <a:ln/>
        </p:spPr>
      </p:sp>
      <p:sp>
        <p:nvSpPr>
          <p:cNvPr id="11" name="Text 9"/>
          <p:cNvSpPr/>
          <p:nvPr/>
        </p:nvSpPr>
        <p:spPr>
          <a:xfrm>
            <a:off x="1783080" y="1463040"/>
            <a:ext cx="1280160" cy="10058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Муниципальный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044952" y="1463040"/>
            <a:ext cx="182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F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3200400" y="1463040"/>
            <a:ext cx="1280160" cy="1005840"/>
          </a:xfrm>
          <a:prstGeom prst="rect">
            <a:avLst/>
          </a:prstGeom>
          <a:solidFill>
            <a:srgbClr val="003D7A"/>
          </a:solidFill>
          <a:ln/>
        </p:spPr>
      </p:sp>
      <p:sp>
        <p:nvSpPr>
          <p:cNvPr id="14" name="Text 12"/>
          <p:cNvSpPr/>
          <p:nvPr/>
        </p:nvSpPr>
        <p:spPr>
          <a:xfrm>
            <a:off x="3200400" y="1463040"/>
            <a:ext cx="1280160" cy="10058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Зональный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462272" y="1463040"/>
            <a:ext cx="182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F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4617720" y="1463040"/>
            <a:ext cx="1280160" cy="1005840"/>
          </a:xfrm>
          <a:prstGeom prst="rect">
            <a:avLst/>
          </a:prstGeom>
          <a:solidFill>
            <a:srgbClr val="003D7A"/>
          </a:solidFill>
          <a:ln/>
        </p:spPr>
      </p:sp>
      <p:sp>
        <p:nvSpPr>
          <p:cNvPr id="17" name="Text 15"/>
          <p:cNvSpPr/>
          <p:nvPr/>
        </p:nvSpPr>
        <p:spPr>
          <a:xfrm>
            <a:off x="4617720" y="1463040"/>
            <a:ext cx="1280160" cy="10058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Региональный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879592" y="1463040"/>
            <a:ext cx="182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F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6035040" y="1463040"/>
            <a:ext cx="1280160" cy="1005840"/>
          </a:xfrm>
          <a:prstGeom prst="rect">
            <a:avLst/>
          </a:prstGeom>
          <a:solidFill>
            <a:srgbClr val="003D7A"/>
          </a:solidFill>
          <a:ln/>
        </p:spPr>
      </p:sp>
      <p:sp>
        <p:nvSpPr>
          <p:cNvPr id="20" name="Text 18"/>
          <p:cNvSpPr/>
          <p:nvPr/>
        </p:nvSpPr>
        <p:spPr>
          <a:xfrm>
            <a:off x="6035040" y="1463040"/>
            <a:ext cx="1280160" cy="10058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Окружной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296912" y="1463040"/>
            <a:ext cx="182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F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7452360" y="1463040"/>
            <a:ext cx="1280160" cy="1005840"/>
          </a:xfrm>
          <a:prstGeom prst="rect">
            <a:avLst/>
          </a:prstGeom>
          <a:solidFill>
            <a:srgbClr val="003D7A"/>
          </a:solidFill>
          <a:ln/>
        </p:spPr>
      </p:sp>
      <p:sp>
        <p:nvSpPr>
          <p:cNvPr id="23" name="Text 21"/>
          <p:cNvSpPr/>
          <p:nvPr/>
        </p:nvSpPr>
        <p:spPr>
          <a:xfrm>
            <a:off x="7452360" y="1463040"/>
            <a:ext cx="1280160" cy="10058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Финал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48640" y="2743200"/>
            <a:ext cx="80467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Школьный этап — наш отборочный: выбираем лучших бойцов и состав отряда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Нижегородской области этап между муниципальным и региональным называют «дивизионным»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Победители выходят на следующий этап; возможны приглашения организаторов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Даты сезона 2027 года пока не опубликованы — ориентируемся на 2026 год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03D7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54864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Отряд и условно-военные специальности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«Зарница 2.0» · 2026–2027 · МБОУ СШ № 2 г. Лысково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22960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участников одной категории + наставник. С регионального этапа — не менее 2 девушек.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1691640"/>
            <a:ext cx="1920240" cy="1188720"/>
          </a:xfrm>
          <a:prstGeom prst="rect">
            <a:avLst/>
          </a:prstGeom>
          <a:solidFill>
            <a:srgbClr val="F5F7FA"/>
          </a:solidFill>
          <a:ln w="9525">
            <a:solidFill>
              <a:srgbClr val="D5DCE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691640"/>
            <a:ext cx="64008" cy="1188720"/>
          </a:xfrm>
          <a:prstGeom prst="rect">
            <a:avLst/>
          </a:prstGeom>
          <a:solidFill>
            <a:srgbClr val="003D7A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1764792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Командир — 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2148840"/>
            <a:ext cx="1645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карта, азимут, команды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560320" y="1691640"/>
            <a:ext cx="1920240" cy="1188720"/>
          </a:xfrm>
          <a:prstGeom prst="rect">
            <a:avLst/>
          </a:prstGeom>
          <a:solidFill>
            <a:srgbClr val="F5F7FA"/>
          </a:solidFill>
          <a:ln w="9525">
            <a:solidFill>
              <a:srgbClr val="D5DCE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560320" y="1691640"/>
            <a:ext cx="64008" cy="1188720"/>
          </a:xfrm>
          <a:prstGeom prst="rect">
            <a:avLst/>
          </a:prstGeom>
          <a:solidFill>
            <a:srgbClr val="003D7A"/>
          </a:solidFill>
          <a:ln/>
        </p:spPr>
      </p:sp>
      <p:sp>
        <p:nvSpPr>
          <p:cNvPr id="14" name="Text 12"/>
          <p:cNvSpPr/>
          <p:nvPr/>
        </p:nvSpPr>
        <p:spPr>
          <a:xfrm>
            <a:off x="2743200" y="1764792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Военкор — 1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743200" y="2148840"/>
            <a:ext cx="1645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слово, канал отряда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663440" y="1691640"/>
            <a:ext cx="1920240" cy="1188720"/>
          </a:xfrm>
          <a:prstGeom prst="rect">
            <a:avLst/>
          </a:prstGeom>
          <a:solidFill>
            <a:srgbClr val="F5F7FA"/>
          </a:solidFill>
          <a:ln w="9525">
            <a:solidFill>
              <a:srgbClr val="D5DCE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63440" y="1691640"/>
            <a:ext cx="64008" cy="1188720"/>
          </a:xfrm>
          <a:prstGeom prst="rect">
            <a:avLst/>
          </a:prstGeom>
          <a:solidFill>
            <a:srgbClr val="003D7A"/>
          </a:solidFill>
          <a:ln/>
        </p:spPr>
      </p:sp>
      <p:sp>
        <p:nvSpPr>
          <p:cNvPr id="18" name="Text 16"/>
          <p:cNvSpPr/>
          <p:nvPr/>
        </p:nvSpPr>
        <p:spPr>
          <a:xfrm>
            <a:off x="4846320" y="1764792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Инженер-сапёр — 1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46320" y="2148840"/>
            <a:ext cx="1645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поиск макетов мин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766560" y="1691640"/>
            <a:ext cx="1920240" cy="1188720"/>
          </a:xfrm>
          <a:prstGeom prst="rect">
            <a:avLst/>
          </a:prstGeom>
          <a:solidFill>
            <a:srgbClr val="F5F7FA"/>
          </a:solidFill>
          <a:ln w="9525">
            <a:solidFill>
              <a:srgbClr val="D5DCE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766560" y="1691640"/>
            <a:ext cx="64008" cy="1188720"/>
          </a:xfrm>
          <a:prstGeom prst="rect">
            <a:avLst/>
          </a:prstGeom>
          <a:solidFill>
            <a:srgbClr val="003D7A"/>
          </a:solidFill>
          <a:ln/>
        </p:spPr>
      </p:sp>
      <p:sp>
        <p:nvSpPr>
          <p:cNvPr id="22" name="Text 20"/>
          <p:cNvSpPr/>
          <p:nvPr/>
        </p:nvSpPr>
        <p:spPr>
          <a:xfrm>
            <a:off x="6949440" y="1764792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Медик — 2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949440" y="2148840"/>
            <a:ext cx="1645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первая помощь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3063240"/>
            <a:ext cx="1920240" cy="1188720"/>
          </a:xfrm>
          <a:prstGeom prst="rect">
            <a:avLst/>
          </a:prstGeom>
          <a:solidFill>
            <a:srgbClr val="F5F7FA"/>
          </a:solidFill>
          <a:ln w="9525">
            <a:solidFill>
              <a:srgbClr val="D5DCE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" y="3063240"/>
            <a:ext cx="64008" cy="1188720"/>
          </a:xfrm>
          <a:prstGeom prst="rect">
            <a:avLst/>
          </a:prstGeom>
          <a:solidFill>
            <a:srgbClr val="003D7A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3136392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Оператор БПА — 2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40080" y="3520440"/>
            <a:ext cx="1645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симулятор, миссии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2560320" y="3063240"/>
            <a:ext cx="1920240" cy="1188720"/>
          </a:xfrm>
          <a:prstGeom prst="rect">
            <a:avLst/>
          </a:prstGeom>
          <a:solidFill>
            <a:srgbClr val="F5F7FA"/>
          </a:solidFill>
          <a:ln w="9525">
            <a:solidFill>
              <a:srgbClr val="D5DCE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560320" y="3063240"/>
            <a:ext cx="64008" cy="1188720"/>
          </a:xfrm>
          <a:prstGeom prst="rect">
            <a:avLst/>
          </a:prstGeom>
          <a:solidFill>
            <a:srgbClr val="003D7A"/>
          </a:solidFill>
          <a:ln/>
        </p:spPr>
      </p:sp>
      <p:sp>
        <p:nvSpPr>
          <p:cNvPr id="30" name="Text 28"/>
          <p:cNvSpPr/>
          <p:nvPr/>
        </p:nvSpPr>
        <p:spPr>
          <a:xfrm>
            <a:off x="2743200" y="3136392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Связист — 1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2743200" y="3520440"/>
            <a:ext cx="1645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код Морзе, радио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663440" y="3063240"/>
            <a:ext cx="1920240" cy="1188720"/>
          </a:xfrm>
          <a:prstGeom prst="rect">
            <a:avLst/>
          </a:prstGeom>
          <a:solidFill>
            <a:srgbClr val="F5F7FA"/>
          </a:solidFill>
          <a:ln w="9525">
            <a:solidFill>
              <a:srgbClr val="D5DCE4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663440" y="3063240"/>
            <a:ext cx="64008" cy="1188720"/>
          </a:xfrm>
          <a:prstGeom prst="rect">
            <a:avLst/>
          </a:prstGeom>
          <a:solidFill>
            <a:srgbClr val="003D7A"/>
          </a:solidFill>
          <a:ln/>
        </p:spPr>
      </p:sp>
      <p:sp>
        <p:nvSpPr>
          <p:cNvPr id="34" name="Text 32"/>
          <p:cNvSpPr/>
          <p:nvPr/>
        </p:nvSpPr>
        <p:spPr>
          <a:xfrm>
            <a:off x="4846320" y="3136392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Штурмовик — 2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4846320" y="3520440"/>
            <a:ext cx="1645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обработка углов и проёмов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Смена роли — до начала этапа, во время этапа нельзя.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03D7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54864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Регистрация: шаг за шагом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«Зарница 2.0» · 2026–2027 · МБОУ СШ № 2 г. Лысково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22960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02920" y="1188720"/>
            <a:ext cx="502920" cy="502920"/>
          </a:xfrm>
          <a:prstGeom prst="ellipse">
            <a:avLst/>
          </a:prstGeom>
          <a:solidFill>
            <a:srgbClr val="003D7A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188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88720" y="118872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Профиль на будьвдвижении.рф (согласие на обработку данных)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502920" y="1883664"/>
            <a:ext cx="502920" cy="502920"/>
          </a:xfrm>
          <a:prstGeom prst="ellipse">
            <a:avLst/>
          </a:prstGeom>
          <a:solidFill>
            <a:srgbClr val="003D7A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188366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188720" y="1883664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Вход на зарница.будьвдвижении.рф, «Личное дело»: позывной до 15 символов кириллицей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502920" y="2578608"/>
            <a:ext cx="502920" cy="502920"/>
          </a:xfrm>
          <a:prstGeom prst="ellipse">
            <a:avLst/>
          </a:prstGeom>
          <a:solidFill>
            <a:srgbClr val="003D7A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25786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188720" y="2578608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Наставник создаёт отряд и присылает ссылку-приглашение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502920" y="3273552"/>
            <a:ext cx="502920" cy="502920"/>
          </a:xfrm>
          <a:prstGeom prst="ellipse">
            <a:avLst/>
          </a:prstGeom>
          <a:solidFill>
            <a:srgbClr val="003D7A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" y="32735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188720" y="3273552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Участник переходит по ссылке — и он в отряде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502920" y="3968496"/>
            <a:ext cx="502920" cy="502920"/>
          </a:xfrm>
          <a:prstGeom prst="ellipse">
            <a:avLst/>
          </a:prstGeom>
          <a:solidFill>
            <a:srgbClr val="003D7A"/>
          </a:solidFill>
          <a:ln/>
        </p:spPr>
      </p:sp>
      <p:sp>
        <p:nvSpPr>
          <p:cNvPr id="20" name="Text 18"/>
          <p:cNvSpPr/>
          <p:nvPr/>
        </p:nvSpPr>
        <p:spPr>
          <a:xfrm>
            <a:off x="502920" y="396849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188720" y="3968496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Выбор ролей в блоке «Отборочный этап»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03D7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54864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Отборочный этап в нашей школе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«Зарница 2.0» · 2026–2027 · МБОУ СШ № 2 г. Лысково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22960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1188720"/>
            <a:ext cx="80467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Участники выбирают роли и подают заявку на состязания</a:t>
            </a:r>
            <a:endParaRPr lang="en-US" sz="19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Наставник создаёт события: время, место, роль, возраст</a:t>
            </a:r>
            <a:endParaRPr lang="en-US" sz="19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Проводим состязания по ролям и тактическую игру</a:t>
            </a:r>
            <a:endParaRPr lang="en-US" sz="19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Протокол: скачать шаблон → заполнить → загрузить скан</a:t>
            </a:r>
            <a:endParaRPr lang="en-US" sz="19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Лучшие бойцы формируют состав на муниципальный этап</a:t>
            </a:r>
            <a:endParaRPr lang="en-US" sz="19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Без загруженных протоколов этап не засчитывается</a:t>
            </a:r>
            <a:endParaRPr lang="en-US" sz="1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03D7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54864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Как готовиться по ролям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«Зарница 2.0» · 2026–2027 · МБОУ СШ № 2 г. Лысково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22960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2621280" cy="1463040"/>
          </a:xfrm>
          <a:prstGeom prst="rect">
            <a:avLst/>
          </a:prstGeom>
          <a:solidFill>
            <a:srgbClr val="F5F7FA"/>
          </a:solidFill>
          <a:ln w="9525">
            <a:solidFill>
              <a:srgbClr val="D5DCE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88720"/>
            <a:ext cx="64008" cy="1463040"/>
          </a:xfrm>
          <a:prstGeom prst="rect">
            <a:avLst/>
          </a:prstGeom>
          <a:solidFill>
            <a:srgbClr val="003D7A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261872"/>
            <a:ext cx="234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Командир и связист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1645920"/>
            <a:ext cx="23469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знаки и азимут, прокладка маршрута; код Морзе и радиообмен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261360" y="1188720"/>
            <a:ext cx="2621280" cy="1463040"/>
          </a:xfrm>
          <a:prstGeom prst="rect">
            <a:avLst/>
          </a:prstGeom>
          <a:solidFill>
            <a:srgbClr val="F5F7FA"/>
          </a:solidFill>
          <a:ln w="9525">
            <a:solidFill>
              <a:srgbClr val="D5DCE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61360" y="1188720"/>
            <a:ext cx="64008" cy="1463040"/>
          </a:xfrm>
          <a:prstGeom prst="rect">
            <a:avLst/>
          </a:prstGeom>
          <a:solidFill>
            <a:srgbClr val="003D7A"/>
          </a:solidFill>
          <a:ln/>
        </p:spPr>
      </p:sp>
      <p:sp>
        <p:nvSpPr>
          <p:cNvPr id="13" name="Text 11"/>
          <p:cNvSpPr/>
          <p:nvPr/>
        </p:nvSpPr>
        <p:spPr>
          <a:xfrm>
            <a:off x="3444240" y="1261872"/>
            <a:ext cx="234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Сапёр и штурмовик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444240" y="1645920"/>
            <a:ext cx="23469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щуп и указки, обработка углов; безопасное обращение с макетом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065520" y="1188720"/>
            <a:ext cx="2621280" cy="1463040"/>
          </a:xfrm>
          <a:prstGeom prst="rect">
            <a:avLst/>
          </a:prstGeom>
          <a:solidFill>
            <a:srgbClr val="F5F7FA"/>
          </a:solidFill>
          <a:ln w="9525">
            <a:solidFill>
              <a:srgbClr val="D5DCE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065520" y="1188720"/>
            <a:ext cx="64008" cy="1463040"/>
          </a:xfrm>
          <a:prstGeom prst="rect">
            <a:avLst/>
          </a:prstGeom>
          <a:solidFill>
            <a:srgbClr val="003D7A"/>
          </a:solidFill>
          <a:ln/>
        </p:spPr>
      </p:sp>
      <p:sp>
        <p:nvSpPr>
          <p:cNvPr id="17" name="Text 15"/>
          <p:cNvSpPr/>
          <p:nvPr/>
        </p:nvSpPr>
        <p:spPr>
          <a:xfrm>
            <a:off x="6248400" y="1261872"/>
            <a:ext cx="234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Медик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248400" y="1645920"/>
            <a:ext cx="23469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жгут, повязка, эвакуация, 13 аспектов алгоритма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57200" y="2834640"/>
            <a:ext cx="2621280" cy="1463040"/>
          </a:xfrm>
          <a:prstGeom prst="rect">
            <a:avLst/>
          </a:prstGeom>
          <a:solidFill>
            <a:srgbClr val="F5F7FA"/>
          </a:solidFill>
          <a:ln w="9525">
            <a:solidFill>
              <a:srgbClr val="D5DCE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2834640"/>
            <a:ext cx="64008" cy="1463040"/>
          </a:xfrm>
          <a:prstGeom prst="rect">
            <a:avLst/>
          </a:prstGeom>
          <a:solidFill>
            <a:srgbClr val="003D7A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2907792"/>
            <a:ext cx="234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Военкор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40080" y="3291840"/>
            <a:ext cx="23469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описание изображения, объяснение слов, канал отряда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3261360" y="2834640"/>
            <a:ext cx="2621280" cy="1463040"/>
          </a:xfrm>
          <a:prstGeom prst="rect">
            <a:avLst/>
          </a:prstGeom>
          <a:solidFill>
            <a:srgbClr val="F5F7FA"/>
          </a:solidFill>
          <a:ln w="9525">
            <a:solidFill>
              <a:srgbClr val="D5DCE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61360" y="2834640"/>
            <a:ext cx="64008" cy="1463040"/>
          </a:xfrm>
          <a:prstGeom prst="rect">
            <a:avLst/>
          </a:prstGeom>
          <a:solidFill>
            <a:srgbClr val="003D7A"/>
          </a:solidFill>
          <a:ln/>
        </p:spPr>
      </p:sp>
      <p:sp>
        <p:nvSpPr>
          <p:cNvPr id="25" name="Text 23"/>
          <p:cNvSpPr/>
          <p:nvPr/>
        </p:nvSpPr>
        <p:spPr>
          <a:xfrm>
            <a:off x="3444240" y="2907792"/>
            <a:ext cx="234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Оператор БПА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3444240" y="3291840"/>
            <a:ext cx="23469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тест, симулятор «Академия дронов», миссии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065520" y="2834640"/>
            <a:ext cx="2621280" cy="1463040"/>
          </a:xfrm>
          <a:prstGeom prst="rect">
            <a:avLst/>
          </a:prstGeom>
          <a:solidFill>
            <a:srgbClr val="F5F7FA"/>
          </a:solidFill>
          <a:ln w="9525">
            <a:solidFill>
              <a:srgbClr val="D5DCE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065520" y="2834640"/>
            <a:ext cx="64008" cy="1463040"/>
          </a:xfrm>
          <a:prstGeom prst="rect">
            <a:avLst/>
          </a:prstGeom>
          <a:solidFill>
            <a:srgbClr val="003D7A"/>
          </a:solidFill>
          <a:ln/>
        </p:spPr>
      </p:sp>
      <p:sp>
        <p:nvSpPr>
          <p:cNvPr id="29" name="Text 27"/>
          <p:cNvSpPr/>
          <p:nvPr/>
        </p:nvSpPr>
        <p:spPr>
          <a:xfrm>
            <a:off x="6248400" y="2907792"/>
            <a:ext cx="234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Все вместе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248400" y="3291840"/>
            <a:ext cx="23469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3–4 занятия в неделю, запасные на каждую роль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03D7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54864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Отрядные состязания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«Зарница 2.0» · 2026–2027 · МБОУ СШ № 2 г. Лысково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22960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1188720"/>
            <a:ext cx="80467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Строевая подготовка и военизированная эстафета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Силовая выносливость и кросс 3000 м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Военно-политическая подготовка (тест)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Тактическая медицина, РХБЗ, выживание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Тактическая и огневая подготовка (в школе — на макетах)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Тактическая игра на местности: у каждого игрока две «жизни»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03D7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54864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Безопасность прежде всего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«Зарница 2.0» · 2026–2027 · МБОУ СШ № 2 г. Лысково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22960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4023360" cy="1508760"/>
          </a:xfrm>
          <a:prstGeom prst="rect">
            <a:avLst/>
          </a:prstGeom>
          <a:solidFill>
            <a:srgbClr val="F5F7FA"/>
          </a:solidFill>
          <a:ln w="9525">
            <a:solidFill>
              <a:srgbClr val="D5DCE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88720"/>
            <a:ext cx="64008" cy="150876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26187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Допуск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" y="1645920"/>
            <a:ext cx="374904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медицинский допуск и инструктаж — иначе нет допуска к занятию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663440" y="1188720"/>
            <a:ext cx="4023360" cy="1508760"/>
          </a:xfrm>
          <a:prstGeom prst="rect">
            <a:avLst/>
          </a:prstGeom>
          <a:solidFill>
            <a:srgbClr val="F5F7FA"/>
          </a:solidFill>
          <a:ln w="9525">
            <a:solidFill>
              <a:srgbClr val="D5DCE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63440" y="1188720"/>
            <a:ext cx="64008" cy="150876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13" name="Text 11"/>
          <p:cNvSpPr/>
          <p:nvPr/>
        </p:nvSpPr>
        <p:spPr>
          <a:xfrm>
            <a:off x="4846320" y="126187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Оружие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846320" y="1645920"/>
            <a:ext cx="374904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школе только макеты (ММГ), под присмотром наставника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57200" y="2880360"/>
            <a:ext cx="4023360" cy="1508760"/>
          </a:xfrm>
          <a:prstGeom prst="rect">
            <a:avLst/>
          </a:prstGeom>
          <a:solidFill>
            <a:srgbClr val="F5F7FA"/>
          </a:solidFill>
          <a:ln w="9525">
            <a:solidFill>
              <a:srgbClr val="D5DCE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2880360"/>
            <a:ext cx="64008" cy="150876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295351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Нагрузка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0080" y="3337560"/>
            <a:ext cx="374904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 простого к сложному; вода, форма, закрытая обувь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4663440" y="2880360"/>
            <a:ext cx="4023360" cy="1508760"/>
          </a:xfrm>
          <a:prstGeom prst="rect">
            <a:avLst/>
          </a:prstGeom>
          <a:solidFill>
            <a:srgbClr val="F5F7FA"/>
          </a:solidFill>
          <a:ln w="9525">
            <a:solidFill>
              <a:srgbClr val="D5DCE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63440" y="2880360"/>
            <a:ext cx="64008" cy="150876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21" name="Text 19"/>
          <p:cNvSpPr/>
          <p:nvPr/>
        </p:nvSpPr>
        <p:spPr>
          <a:xfrm>
            <a:off x="4846320" y="295351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Этапы за пределами школы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846320" y="3337560"/>
            <a:ext cx="374904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стрельба и страйкбол — только с инструкторами организаторов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03D7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54864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Документы для этапа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«Зарница 2.0» · 2026–2027 · МБОУ СШ № 2 г. Лысково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22960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1188720"/>
            <a:ext cx="80467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Согласия родителей на обработку данных, участие, медвмешательство, съёмку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Копия полиса ОМС, оригинал свидетельства о рождении или паспорта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Справка об инструктаже, заявка с сайта Игры, опись и папка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 муниципального этапа: прививки (клещевой энцефалит) и страховка от клеща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Справка 079/у — при совместном проживании и с зонального этапа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Подробный перечень — в «Памятке наставника и родителей»</a:t>
            </a:r>
            <a:endParaRPr lang="en-US" sz="1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03D7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54864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График подготовки (ориентир)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«Зарница 2.0» · 2026–2027 · МБОУ СШ № 2 г. Лысково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22960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4023360" cy="1371600"/>
          </a:xfrm>
          <a:prstGeom prst="rect">
            <a:avLst/>
          </a:prstGeom>
          <a:solidFill>
            <a:srgbClr val="F5F7FA"/>
          </a:solidFill>
          <a:ln w="9525">
            <a:solidFill>
              <a:srgbClr val="D5DCE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88720"/>
            <a:ext cx="64008" cy="1371600"/>
          </a:xfrm>
          <a:prstGeom prst="rect">
            <a:avLst/>
          </a:prstGeom>
          <a:solidFill>
            <a:srgbClr val="003D7A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26187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Сентябрь–декабрь 2026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" y="1645920"/>
            <a:ext cx="3749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набор, допуск, базовые навыки, выбор ролей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663440" y="1188720"/>
            <a:ext cx="4023360" cy="1371600"/>
          </a:xfrm>
          <a:prstGeom prst="rect">
            <a:avLst/>
          </a:prstGeom>
          <a:solidFill>
            <a:srgbClr val="F5F7FA"/>
          </a:solidFill>
          <a:ln w="9525">
            <a:solidFill>
              <a:srgbClr val="D5DCE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63440" y="1188720"/>
            <a:ext cx="64008" cy="1371600"/>
          </a:xfrm>
          <a:prstGeom prst="rect">
            <a:avLst/>
          </a:prstGeom>
          <a:solidFill>
            <a:srgbClr val="003D7A"/>
          </a:solidFill>
          <a:ln/>
        </p:spPr>
      </p:sp>
      <p:sp>
        <p:nvSpPr>
          <p:cNvPr id="13" name="Text 11"/>
          <p:cNvSpPr/>
          <p:nvPr/>
        </p:nvSpPr>
        <p:spPr>
          <a:xfrm>
            <a:off x="4846320" y="126187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Январь–март 2027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846320" y="1645920"/>
            <a:ext cx="3749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углубление по ролям, отрядные состязания, отборочный этап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57200" y="2743200"/>
            <a:ext cx="4023360" cy="1371600"/>
          </a:xfrm>
          <a:prstGeom prst="rect">
            <a:avLst/>
          </a:prstGeom>
          <a:solidFill>
            <a:srgbClr val="F5F7FA"/>
          </a:solidFill>
          <a:ln w="9525">
            <a:solidFill>
              <a:srgbClr val="D5DCE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2743200"/>
            <a:ext cx="64008" cy="1371600"/>
          </a:xfrm>
          <a:prstGeom prst="rect">
            <a:avLst/>
          </a:prstGeom>
          <a:solidFill>
            <a:srgbClr val="003D7A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281635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Апрель–июнь 2027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0080" y="3200400"/>
            <a:ext cx="3749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муниципальный, региональный и следующие этапы по датам Штаба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4663440" y="2743200"/>
            <a:ext cx="4023360" cy="1371600"/>
          </a:xfrm>
          <a:prstGeom prst="rect">
            <a:avLst/>
          </a:prstGeom>
          <a:solidFill>
            <a:srgbClr val="F5F7FA"/>
          </a:solidFill>
          <a:ln w="9525">
            <a:solidFill>
              <a:srgbClr val="D5DCE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63440" y="2743200"/>
            <a:ext cx="64008" cy="1371600"/>
          </a:xfrm>
          <a:prstGeom prst="rect">
            <a:avLst/>
          </a:prstGeom>
          <a:solidFill>
            <a:srgbClr val="003D7A"/>
          </a:solidFill>
          <a:ln/>
        </p:spPr>
      </p:sp>
      <p:sp>
        <p:nvSpPr>
          <p:cNvPr id="21" name="Text 19"/>
          <p:cNvSpPr/>
          <p:nvPr/>
        </p:nvSpPr>
        <p:spPr>
          <a:xfrm>
            <a:off x="4846320" y="281635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Июнь–август 2027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846320" y="3200400"/>
            <a:ext cx="3749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итоги, награждение, набор нового состава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F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Даты 2027 года организаторы пока не объявили; график будет уточнён.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03D7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54864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Куда обращаться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«Зарница 2.0» · 2026–2027 · МБОУ СШ № 2 г. Лысково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22960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1188720"/>
            <a:ext cx="80467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Школа: преподаватель-организатор ОБЗР Дёмин А. Ю., кабинет № 210</a:t>
            </a:r>
            <a:endParaRPr lang="en-US" sz="19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Сайт Игры: зарница.будьвдвижении.рф — раздел «Документы»</a:t>
            </a:r>
            <a:endParaRPr lang="en-US" sz="19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Личный кабинет: будьвдвижении.рф</a:t>
            </a:r>
            <a:endParaRPr lang="en-US" sz="19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Материалы на сайте школы: Положение, график, методические рекомендации, памятка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457200" y="38404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Вместе — к победе!</a:t>
            </a:r>
            <a:endParaRPr lang="en-US"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2026-10-27T19:47:22Z</dcterms:created>
  <dcterms:modified xsi:type="dcterms:W3CDTF">2026-10-27T19:47:22Z</dcterms:modified>
</cp:coreProperties>
</file>