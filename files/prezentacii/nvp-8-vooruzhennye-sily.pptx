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7771a71-2213-7bdc-8d79-09eab30863c4}">
          <p14:sldIdLst>
            <p14:sldId id="256"/>
            <p14:sldId id="257"/>
          </p14:sldIdLst>
        </p14:section>
        <p14:section name="Основная часть" id="{29b4a0fd-9d81-9f58-86e1-5e6834b65fc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Закрепление" id="{7411527a-53e9-09e1-cca0-9dd388f8ec8c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Вводная лекция по курсу НВП. Время: 1–2 минуты. Спросите класс, что они уже знают об армии, и запишите 2–3 ответа на доске.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Озвучьте план урока. 1–2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Опора: Конституция РФ (ст. 59) и Федеральный закон «Об обороне». Попросите учеников своими словами объяснить, что значит «долг и обязанность».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дата для запоминания — 7 мая 1992 года. Реформа и последние изменения 2024 года показывают, что структура армии меняется.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Фамилии руководителей на слайде не указаны специально: они меняются. При необходимости назовите актуальные данные устно.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вида и два отдельных рода войск — основа для всех следующих слайдов. Предложите ученикам запомнить аббревиатуры: СВ, ВКС, ВМФ, РВСН, ВДВ.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Сухопутные войска — самый многочисленный вид. Попросите учеников привести примеры техники для каждого рода войск.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Сравните два вида: что общего (действуют в воздухе, космосе и на море) и чем отличаются.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РВСН и ВДВ подчиняются напрямую центральному командованию. Можно показать видео-фрагмент, если есть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Округ — территориальное объединение войск всех видов на своей территории. Покажите на карте штабы округов.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Звания делятся на четыре большие группы. Попросите назвать по одному званию из каждой группы.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 — Президент РФ. 2 — 7 мая. 3 — Сухопутные войска, Воздушно-космические силы, Военно-морской флот. 4 — РВСН и ВДВ. 5 — пять округов: Ленинградский, Московский, Южный, Центральный, Восточный (плюс ОСК «Северный флот»).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Подведите итоги за 2 минуты. Домашнее задание — по желанию с выбором вида или рода войск.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НВП · 8 класс · Дёмин А.Ю., МБОУ СШ № 2 г. Лысково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6692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НВП · 8 класс · Дёмин А.Ю., МБОУ СШ № 2 г. Лысково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Вооружённые Силы Российской Федерации</a:t>
            </a:r>
            <a:endParaRPr lang="en-US" sz="3400" dirty="0"/>
          </a:p>
        </p:txBody>
      </p:sp>
      <p:sp>
        <p:nvSpPr>
          <p:cNvPr id="4" name="Фон-круг 1"/>
          <p:cNvSpPr/>
          <p:nvPr/>
        </p:nvSpPr>
        <p:spPr>
          <a:xfrm>
            <a:off x="5943600" y="-1188720"/>
            <a:ext cx="4754880" cy="4754880"/>
          </a:xfrm>
          <a:prstGeom prst="ellipse">
            <a:avLst/>
          </a:prstGeom>
          <a:solidFill>
            <a:schemeClr val="accent5">
              <a:alpha val="65000"/>
            </a:schemeClr>
          </a:solidFill>
          <a:ln/>
        </p:spPr>
      </p:sp>
      <p:sp>
        <p:nvSpPr>
          <p:cNvPr id="5" name="Фон-круг 2"/>
          <p:cNvSpPr/>
          <p:nvPr/>
        </p:nvSpPr>
        <p:spPr>
          <a:xfrm>
            <a:off x="6583680" y="3200400"/>
            <a:ext cx="3291840" cy="3291840"/>
          </a:xfrm>
          <a:prstGeom prst="ellipse">
            <a:avLst/>
          </a:prstGeom>
          <a:solidFill>
            <a:schemeClr val="accent5">
              <a:alpha val="40000"/>
            </a:schemeClr>
          </a:solidFill>
          <a:ln/>
        </p:spPr>
      </p:sp>
      <p:sp>
        <p:nvSpPr>
          <p:cNvPr id="6" name="Круг иконки"/>
          <p:cNvSpPr/>
          <p:nvPr/>
        </p:nvSpPr>
        <p:spPr>
          <a:xfrm>
            <a:off x="6492240" y="1417320"/>
            <a:ext cx="2011680" cy="2011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5043" y="1900123"/>
            <a:ext cx="1046074" cy="10460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777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Начальная военная подготовка · 8 класс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114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Дёмин А.Ю. · МБОУ СШ № 2 г. Лысково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Что узнаем на уроке</a:t>
            </a:r>
            <a:endParaRPr lang="en-US" sz="2800" dirty="0"/>
          </a:p>
        </p:txBody>
      </p:sp>
      <p:sp>
        <p:nvSpPr>
          <p:cNvPr id="4" name="Карточка"/>
          <p:cNvSpPr/>
          <p:nvPr/>
        </p:nvSpPr>
        <p:spPr>
          <a:xfrm>
            <a:off x="457200" y="1188720"/>
            <a:ext cx="8229600" cy="761238"/>
          </a:xfrm>
          <a:prstGeom prst="roundRect">
            <a:avLst>
              <a:gd name="adj" fmla="val 12012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Круг иконки"/>
          <p:cNvSpPr/>
          <p:nvPr/>
        </p:nvSpPr>
        <p:spPr>
          <a:xfrm>
            <a:off x="640080" y="1285875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421938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1188720"/>
            <a:ext cx="7022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Зачем нужны Вооружённые Силы и кто ими руководит</a:t>
            </a:r>
            <a:endParaRPr lang="en-US" sz="1600" dirty="0"/>
          </a:p>
        </p:txBody>
      </p:sp>
      <p:sp>
        <p:nvSpPr>
          <p:cNvPr id="8" name="Карточка"/>
          <p:cNvSpPr/>
          <p:nvPr/>
        </p:nvSpPr>
        <p:spPr>
          <a:xfrm>
            <a:off x="457200" y="2077974"/>
            <a:ext cx="8229600" cy="761238"/>
          </a:xfrm>
          <a:prstGeom prst="roundRect">
            <a:avLst>
              <a:gd name="adj" fmla="val 12012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Круг иконки"/>
          <p:cNvSpPr/>
          <p:nvPr/>
        </p:nvSpPr>
        <p:spPr>
          <a:xfrm>
            <a:off x="640080" y="2175129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2311192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35608" y="2077974"/>
            <a:ext cx="7022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Как создавались современные Вооружённые Силы России</a:t>
            </a:r>
            <a:endParaRPr lang="en-US" sz="1600" dirty="0"/>
          </a:p>
        </p:txBody>
      </p:sp>
      <p:sp>
        <p:nvSpPr>
          <p:cNvPr id="12" name="Карточка"/>
          <p:cNvSpPr/>
          <p:nvPr/>
        </p:nvSpPr>
        <p:spPr>
          <a:xfrm>
            <a:off x="457200" y="2967228"/>
            <a:ext cx="8229600" cy="761238"/>
          </a:xfrm>
          <a:prstGeom prst="roundRect">
            <a:avLst>
              <a:gd name="adj" fmla="val 12012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Круг иконки"/>
          <p:cNvSpPr/>
          <p:nvPr/>
        </p:nvSpPr>
        <p:spPr>
          <a:xfrm>
            <a:off x="640080" y="3064383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200446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35608" y="2967228"/>
            <a:ext cx="7022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Из чего они состоят: виды и рода войск</a:t>
            </a:r>
            <a:endParaRPr lang="en-US" sz="1600" dirty="0"/>
          </a:p>
        </p:txBody>
      </p:sp>
      <p:sp>
        <p:nvSpPr>
          <p:cNvPr id="16" name="Карточка"/>
          <p:cNvSpPr/>
          <p:nvPr/>
        </p:nvSpPr>
        <p:spPr>
          <a:xfrm>
            <a:off x="457200" y="3856482"/>
            <a:ext cx="8229600" cy="761238"/>
          </a:xfrm>
          <a:prstGeom prst="roundRect">
            <a:avLst>
              <a:gd name="adj" fmla="val 12012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Круг иконки"/>
          <p:cNvSpPr/>
          <p:nvPr/>
        </p:nvSpPr>
        <p:spPr>
          <a:xfrm>
            <a:off x="640080" y="3953637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089700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35608" y="3856482"/>
            <a:ext cx="7022592" cy="761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Как устроены по территории и какие бывают воинские звания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Для чего нужны Вооружённые Силы</a:t>
            </a:r>
            <a:endParaRPr lang="en-US" sz="2800" dirty="0"/>
          </a:p>
        </p:txBody>
      </p:sp>
      <p:sp>
        <p:nvSpPr>
          <p:cNvPr id="4" name="Карточка"/>
          <p:cNvSpPr/>
          <p:nvPr/>
        </p:nvSpPr>
        <p:spPr>
          <a:xfrm>
            <a:off x="457200" y="118872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Круг иконки"/>
          <p:cNvSpPr/>
          <p:nvPr/>
        </p:nvSpPr>
        <p:spPr>
          <a:xfrm>
            <a:off x="658368" y="13898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1525951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Отражение агрессии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2670048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Вооружённые Силы — государственная военная организация, основа обороны страны.</a:t>
            </a:r>
            <a:endParaRPr lang="en-US" sz="1400" dirty="0"/>
          </a:p>
        </p:txBody>
      </p:sp>
      <p:sp>
        <p:nvSpPr>
          <p:cNvPr id="9" name="Карточка"/>
          <p:cNvSpPr/>
          <p:nvPr/>
        </p:nvSpPr>
        <p:spPr>
          <a:xfrm>
            <a:off x="3291840" y="118872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Круг иконки"/>
          <p:cNvSpPr/>
          <p:nvPr/>
        </p:nvSpPr>
        <p:spPr>
          <a:xfrm>
            <a:off x="3493008" y="13898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71" y="1525951"/>
            <a:ext cx="294803" cy="29480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9300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Защита территории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493008" y="2670048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Вооружённая защита целостности и неприкосновенности территории России.</a:t>
            </a:r>
            <a:endParaRPr lang="en-US" sz="1400" dirty="0"/>
          </a:p>
        </p:txBody>
      </p:sp>
      <p:sp>
        <p:nvSpPr>
          <p:cNvPr id="14" name="Карточка"/>
          <p:cNvSpPr/>
          <p:nvPr/>
        </p:nvSpPr>
        <p:spPr>
          <a:xfrm>
            <a:off x="6126480" y="1188720"/>
            <a:ext cx="2560320" cy="260604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Круг иконки"/>
          <p:cNvSpPr/>
          <p:nvPr/>
        </p:nvSpPr>
        <p:spPr>
          <a:xfrm>
            <a:off x="6327648" y="138988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711" y="1525951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27648" y="2103120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Международные обязательства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327648" y="2670048"/>
            <a:ext cx="21579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Выполняют задачи в соответствии с международными договорами России.</a:t>
            </a:r>
            <a:endParaRPr lang="en-US" sz="1400" dirty="0"/>
          </a:p>
        </p:txBody>
      </p:sp>
      <p:sp>
        <p:nvSpPr>
          <p:cNvPr id="19" name="Вывод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Защита Отечества — долг и обязанность гражданина Российской Федерации (Конституция РФ, ст. 59)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Как возникли современные ВС РФ</a:t>
            </a:r>
            <a:endParaRPr lang="en-US" sz="2800" dirty="0"/>
          </a:p>
        </p:txBody>
      </p:sp>
      <p:sp>
        <p:nvSpPr>
          <p:cNvPr id="4" name="Линия времени"/>
          <p:cNvSpPr/>
          <p:nvPr/>
        </p:nvSpPr>
        <p:spPr>
          <a:xfrm>
            <a:off x="1485900" y="1938528"/>
            <a:ext cx="6172200" cy="4572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16 марта 1992</a:t>
            </a:r>
            <a:endParaRPr lang="en-US" sz="1800" dirty="0"/>
          </a:p>
        </p:txBody>
      </p:sp>
      <p:sp>
        <p:nvSpPr>
          <p:cNvPr id="6" name="Точка"/>
          <p:cNvSpPr/>
          <p:nvPr/>
        </p:nvSpPr>
        <p:spPr>
          <a:xfrm>
            <a:off x="1330452" y="1783080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Карточка"/>
          <p:cNvSpPr/>
          <p:nvPr/>
        </p:nvSpPr>
        <p:spPr>
          <a:xfrm>
            <a:off x="530352" y="2331720"/>
            <a:ext cx="1911096" cy="1965960"/>
          </a:xfrm>
          <a:prstGeom prst="roundRect">
            <a:avLst>
              <a:gd name="adj" fmla="val 478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24688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Указ Президента РФ о создании Вооружённых Сил Российской Федерации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7 мая 1992</a:t>
            </a:r>
            <a:endParaRPr lang="en-US" sz="1800" dirty="0"/>
          </a:p>
        </p:txBody>
      </p:sp>
      <p:sp>
        <p:nvSpPr>
          <p:cNvPr id="10" name="Точка"/>
          <p:cNvSpPr/>
          <p:nvPr/>
        </p:nvSpPr>
        <p:spPr>
          <a:xfrm>
            <a:off x="3387852" y="1783080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Карточка"/>
          <p:cNvSpPr/>
          <p:nvPr/>
        </p:nvSpPr>
        <p:spPr>
          <a:xfrm>
            <a:off x="2587752" y="2331720"/>
            <a:ext cx="1911096" cy="1965960"/>
          </a:xfrm>
          <a:prstGeom prst="roundRect">
            <a:avLst>
              <a:gd name="adj" fmla="val 478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743200" y="24688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Указ о создании самостоятельных Вооружённых Сил России. Эту дату отмечают как День создания ВС РФ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2008–2010</a:t>
            </a:r>
            <a:endParaRPr lang="en-US" sz="1800" dirty="0"/>
          </a:p>
        </p:txBody>
      </p:sp>
      <p:sp>
        <p:nvSpPr>
          <p:cNvPr id="14" name="Точка"/>
          <p:cNvSpPr/>
          <p:nvPr/>
        </p:nvSpPr>
        <p:spPr>
          <a:xfrm>
            <a:off x="5445252" y="1783080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Карточка"/>
          <p:cNvSpPr/>
          <p:nvPr/>
        </p:nvSpPr>
        <p:spPr>
          <a:xfrm>
            <a:off x="4645152" y="2331720"/>
            <a:ext cx="1911096" cy="1965960"/>
          </a:xfrm>
          <a:prstGeom prst="roundRect">
            <a:avLst>
              <a:gd name="adj" fmla="val 478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800600" y="24688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Военная реформа: новая структура, военные округа укрупнены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1188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2024</a:t>
            </a:r>
            <a:endParaRPr lang="en-US" sz="1800" dirty="0"/>
          </a:p>
        </p:txBody>
      </p:sp>
      <p:sp>
        <p:nvSpPr>
          <p:cNvPr id="18" name="Точка"/>
          <p:cNvSpPr/>
          <p:nvPr/>
        </p:nvSpPr>
        <p:spPr>
          <a:xfrm>
            <a:off x="7502652" y="1783080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Карточка"/>
          <p:cNvSpPr/>
          <p:nvPr/>
        </p:nvSpPr>
        <p:spPr>
          <a:xfrm>
            <a:off x="6702552" y="2331720"/>
            <a:ext cx="1911096" cy="1965960"/>
          </a:xfrm>
          <a:prstGeom prst="roundRect">
            <a:avLst>
              <a:gd name="adj" fmla="val 478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858000" y="24688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Западный военный округ разделён: воссозданы Московский и Ленинградский округа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Кто руководит Вооружёнными Силами</a:t>
            </a:r>
            <a:endParaRPr lang="en-US" sz="2800" dirty="0"/>
          </a:p>
        </p:txBody>
      </p:sp>
      <p:sp>
        <p:nvSpPr>
          <p:cNvPr id="4" name="Уровень 1"/>
          <p:cNvSpPr/>
          <p:nvPr/>
        </p:nvSpPr>
        <p:spPr>
          <a:xfrm>
            <a:off x="457200" y="1188720"/>
            <a:ext cx="8229600" cy="720090"/>
          </a:xfrm>
          <a:prstGeom prst="roundRect">
            <a:avLst>
              <a:gd name="adj" fmla="val 12698"/>
            </a:avLst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1188720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Верховный Главнокомандующий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Президент Российской Федерации (Конституция РФ, закон «Об обороне»)</a:t>
            </a:r>
            <a:endParaRPr lang="en-US" sz="1400" dirty="0"/>
          </a:p>
        </p:txBody>
      </p:sp>
      <p:sp>
        <p:nvSpPr>
          <p:cNvPr id="6" name="Стрелка вниз"/>
          <p:cNvSpPr/>
          <p:nvPr/>
        </p:nvSpPr>
        <p:spPr>
          <a:xfrm>
            <a:off x="4434840" y="1927098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7" name="Уровень 2"/>
          <p:cNvSpPr/>
          <p:nvPr/>
        </p:nvSpPr>
        <p:spPr>
          <a:xfrm>
            <a:off x="457200" y="2091690"/>
            <a:ext cx="8229600" cy="720090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2091690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Министерство обороны РФ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Федеральный орган исполнительной власти, осуществляющий управление Вооружёнными Силами</a:t>
            </a:r>
            <a:endParaRPr lang="en-US" sz="1400" dirty="0"/>
          </a:p>
        </p:txBody>
      </p:sp>
      <p:sp>
        <p:nvSpPr>
          <p:cNvPr id="9" name="Стрелка вниз"/>
          <p:cNvSpPr/>
          <p:nvPr/>
        </p:nvSpPr>
        <p:spPr>
          <a:xfrm>
            <a:off x="4434840" y="2830068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0" name="Уровень 3"/>
          <p:cNvSpPr/>
          <p:nvPr/>
        </p:nvSpPr>
        <p:spPr>
          <a:xfrm>
            <a:off x="457200" y="2994660"/>
            <a:ext cx="8229600" cy="720090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2994660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Генеральный штаб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Главный орган оперативного управления Вооружёнными Силами</a:t>
            </a:r>
            <a:endParaRPr lang="en-US" sz="1400" dirty="0"/>
          </a:p>
        </p:txBody>
      </p:sp>
      <p:sp>
        <p:nvSpPr>
          <p:cNvPr id="12" name="Стрелка вниз"/>
          <p:cNvSpPr/>
          <p:nvPr/>
        </p:nvSpPr>
        <p:spPr>
          <a:xfrm>
            <a:off x="4434840" y="3733038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3" name="Уровень 4"/>
          <p:cNvSpPr/>
          <p:nvPr/>
        </p:nvSpPr>
        <p:spPr>
          <a:xfrm>
            <a:off x="457200" y="3897630"/>
            <a:ext cx="8229600" cy="720090"/>
          </a:xfrm>
          <a:prstGeom prst="roundRect">
            <a:avLst>
              <a:gd name="adj" fmla="val 12698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3897630"/>
            <a:ext cx="758952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Командования видов, родов войск и военных округов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Руководят соединениями и частями, которые им подчинены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Состав Вооружённых Сил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Три вида Вооружённых Сил</a:t>
            </a:r>
            <a:endParaRPr lang="en-US" sz="1600" dirty="0"/>
          </a:p>
        </p:txBody>
      </p:sp>
      <p:sp>
        <p:nvSpPr>
          <p:cNvPr id="5" name="Карточка"/>
          <p:cNvSpPr/>
          <p:nvPr/>
        </p:nvSpPr>
        <p:spPr>
          <a:xfrm>
            <a:off x="457200" y="146304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Круг иконки"/>
          <p:cNvSpPr/>
          <p:nvPr/>
        </p:nvSpPr>
        <p:spPr>
          <a:xfrm>
            <a:off x="6400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93761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46304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СВ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Сухопутные войска</a:t>
            </a:r>
            <a:endParaRPr lang="en-US" sz="1400" dirty="0"/>
          </a:p>
        </p:txBody>
      </p:sp>
      <p:sp>
        <p:nvSpPr>
          <p:cNvPr id="9" name="Карточка"/>
          <p:cNvSpPr/>
          <p:nvPr/>
        </p:nvSpPr>
        <p:spPr>
          <a:xfrm>
            <a:off x="3276600" y="146304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Круг иконки"/>
          <p:cNvSpPr/>
          <p:nvPr/>
        </p:nvSpPr>
        <p:spPr>
          <a:xfrm>
            <a:off x="34594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54" y="19376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91000" y="146304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ВКС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Воздушно-космические силы</a:t>
            </a:r>
            <a:endParaRPr lang="en-US" sz="1400" dirty="0"/>
          </a:p>
        </p:txBody>
      </p:sp>
      <p:sp>
        <p:nvSpPr>
          <p:cNvPr id="13" name="Карточка"/>
          <p:cNvSpPr/>
          <p:nvPr/>
        </p:nvSpPr>
        <p:spPr>
          <a:xfrm>
            <a:off x="6096000" y="146304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Круг иконки"/>
          <p:cNvSpPr/>
          <p:nvPr/>
        </p:nvSpPr>
        <p:spPr>
          <a:xfrm>
            <a:off x="6278880" y="1805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554" y="193761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10400" y="146304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ВМФ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Военно-морской флот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Два отдельных рода войск и другие формирования</a:t>
            </a:r>
            <a:endParaRPr lang="en-US" sz="1600" dirty="0"/>
          </a:p>
        </p:txBody>
      </p:sp>
      <p:sp>
        <p:nvSpPr>
          <p:cNvPr id="18" name="Карточка"/>
          <p:cNvSpPr/>
          <p:nvPr/>
        </p:nvSpPr>
        <p:spPr>
          <a:xfrm>
            <a:off x="457200" y="320040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Круг иконки"/>
          <p:cNvSpPr/>
          <p:nvPr/>
        </p:nvSpPr>
        <p:spPr>
          <a:xfrm>
            <a:off x="640080" y="35433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3674974"/>
            <a:ext cx="285293" cy="28529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71600" y="320040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РВСН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Ракетные войска стратегического назначения</a:t>
            </a:r>
            <a:endParaRPr lang="en-US" sz="1400" dirty="0"/>
          </a:p>
        </p:txBody>
      </p:sp>
      <p:sp>
        <p:nvSpPr>
          <p:cNvPr id="22" name="Карточка"/>
          <p:cNvSpPr/>
          <p:nvPr/>
        </p:nvSpPr>
        <p:spPr>
          <a:xfrm>
            <a:off x="3276600" y="320040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Круг иконки"/>
          <p:cNvSpPr/>
          <p:nvPr/>
        </p:nvSpPr>
        <p:spPr>
          <a:xfrm>
            <a:off x="3459480" y="35433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154" y="3674974"/>
            <a:ext cx="285293" cy="285293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191000" y="320040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ВДВ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Воздушно-десантные войска</a:t>
            </a:r>
            <a:endParaRPr lang="en-US" sz="1400" dirty="0"/>
          </a:p>
        </p:txBody>
      </p:sp>
      <p:sp>
        <p:nvSpPr>
          <p:cNvPr id="26" name="Карточка"/>
          <p:cNvSpPr/>
          <p:nvPr/>
        </p:nvSpPr>
        <p:spPr>
          <a:xfrm>
            <a:off x="6096000" y="3200400"/>
            <a:ext cx="259080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Круг иконки"/>
          <p:cNvSpPr/>
          <p:nvPr/>
        </p:nvSpPr>
        <p:spPr>
          <a:xfrm>
            <a:off x="6278880" y="35433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Иконка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554" y="3674974"/>
            <a:ext cx="285293" cy="285293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010400" y="3200400"/>
            <a:ext cx="153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Другие войска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Тыл, Силы специальных операций и др.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Сухопутные войска</a:t>
            </a:r>
            <a:endParaRPr lang="en-US" sz="2800" dirty="0"/>
          </a:p>
        </p:txBody>
      </p:sp>
      <p:sp>
        <p:nvSpPr>
          <p:cNvPr id="4" name="Карточка"/>
          <p:cNvSpPr/>
          <p:nvPr/>
        </p:nvSpPr>
        <p:spPr>
          <a:xfrm>
            <a:off x="457200" y="1188720"/>
            <a:ext cx="3108960" cy="342900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Круг иконки"/>
          <p:cNvSpPr/>
          <p:nvPr/>
        </p:nvSpPr>
        <p:spPr>
          <a:xfrm>
            <a:off x="685800" y="14173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1614830"/>
            <a:ext cx="427939" cy="42793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24231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Самый многочисленный вид Вооружённых Сил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24612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Ведут бой на суше, удерживают территорию, действуют вместе с авиацией и флотом.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84048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Основные рода войск</a:t>
            </a:r>
            <a:endParaRPr lang="en-US" sz="1600" dirty="0"/>
          </a:p>
        </p:txBody>
      </p:sp>
      <p:sp>
        <p:nvSpPr>
          <p:cNvPr id="10" name="Род войск"/>
          <p:cNvSpPr/>
          <p:nvPr/>
        </p:nvSpPr>
        <p:spPr>
          <a:xfrm>
            <a:off x="3840480" y="160020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3977640" y="16002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Мотострелковые войска</a:t>
            </a:r>
            <a:endParaRPr lang="en-US" sz="1500" dirty="0"/>
          </a:p>
        </p:txBody>
      </p:sp>
      <p:sp>
        <p:nvSpPr>
          <p:cNvPr id="12" name="Род войск"/>
          <p:cNvSpPr/>
          <p:nvPr/>
        </p:nvSpPr>
        <p:spPr>
          <a:xfrm>
            <a:off x="6355080" y="160020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92240" y="16002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Танковые войска</a:t>
            </a:r>
            <a:endParaRPr lang="en-US" sz="1500" dirty="0"/>
          </a:p>
        </p:txBody>
      </p:sp>
      <p:sp>
        <p:nvSpPr>
          <p:cNvPr id="14" name="Род войск"/>
          <p:cNvSpPr/>
          <p:nvPr/>
        </p:nvSpPr>
        <p:spPr>
          <a:xfrm>
            <a:off x="3840480" y="260604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977640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Ракетные войска и артиллерия</a:t>
            </a:r>
            <a:endParaRPr lang="en-US" sz="1500" dirty="0"/>
          </a:p>
        </p:txBody>
      </p:sp>
      <p:sp>
        <p:nvSpPr>
          <p:cNvPr id="16" name="Род войск"/>
          <p:cNvSpPr/>
          <p:nvPr/>
        </p:nvSpPr>
        <p:spPr>
          <a:xfrm>
            <a:off x="6355080" y="260604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92240" y="26060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Войска ПВО Сухопутных войск</a:t>
            </a:r>
            <a:endParaRPr lang="en-US" sz="1500" dirty="0"/>
          </a:p>
        </p:txBody>
      </p:sp>
      <p:sp>
        <p:nvSpPr>
          <p:cNvPr id="18" name="Род войск"/>
          <p:cNvSpPr/>
          <p:nvPr/>
        </p:nvSpPr>
        <p:spPr>
          <a:xfrm>
            <a:off x="3840480" y="361188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97764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Инженерные войска</a:t>
            </a:r>
            <a:endParaRPr lang="en-US" sz="1500" dirty="0"/>
          </a:p>
        </p:txBody>
      </p:sp>
      <p:sp>
        <p:nvSpPr>
          <p:cNvPr id="20" name="Род войск"/>
          <p:cNvSpPr/>
          <p:nvPr/>
        </p:nvSpPr>
        <p:spPr>
          <a:xfrm>
            <a:off x="6355080" y="3611880"/>
            <a:ext cx="2331720" cy="868680"/>
          </a:xfrm>
          <a:prstGeom prst="roundRect">
            <a:avLst>
              <a:gd name="adj" fmla="val 10526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492240" y="36118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Войска связи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Воздушно-космические силы и флот</a:t>
            </a:r>
            <a:endParaRPr lang="en-US" sz="2800" dirty="0"/>
          </a:p>
        </p:txBody>
      </p:sp>
      <p:sp>
        <p:nvSpPr>
          <p:cNvPr id="4" name="Заголовок колонки"/>
          <p:cNvSpPr/>
          <p:nvPr/>
        </p:nvSpPr>
        <p:spPr>
          <a:xfrm>
            <a:off x="457200" y="1188720"/>
            <a:ext cx="397764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Воздушно-космические силы</a:t>
            </a:r>
            <a:endParaRPr lang="en-US" sz="1800" dirty="0"/>
          </a:p>
        </p:txBody>
      </p:sp>
      <p:sp>
        <p:nvSpPr>
          <p:cNvPr id="6" name="Карточка"/>
          <p:cNvSpPr/>
          <p:nvPr/>
        </p:nvSpPr>
        <p:spPr>
          <a:xfrm>
            <a:off x="457200" y="19202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205740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Военно-воздушные силы (авиация)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Космические войска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Войска противовоздушной и противоракетной обороны</a:t>
            </a:r>
            <a:endParaRPr lang="en-US" sz="1400" dirty="0"/>
          </a:p>
        </p:txBody>
      </p:sp>
      <p:sp>
        <p:nvSpPr>
          <p:cNvPr id="8" name="Заголовок колонки"/>
          <p:cNvSpPr/>
          <p:nvPr/>
        </p:nvSpPr>
        <p:spPr>
          <a:xfrm>
            <a:off x="4709160" y="1188720"/>
            <a:ext cx="3977640" cy="594360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11887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Военно-морской флот</a:t>
            </a:r>
            <a:endParaRPr lang="en-US" sz="1800" dirty="0"/>
          </a:p>
        </p:txBody>
      </p:sp>
      <p:sp>
        <p:nvSpPr>
          <p:cNvPr id="10" name="Карточка"/>
          <p:cNvSpPr/>
          <p:nvPr/>
        </p:nvSpPr>
        <p:spPr>
          <a:xfrm>
            <a:off x="4709160" y="1920240"/>
            <a:ext cx="3977640" cy="2697480"/>
          </a:xfrm>
          <a:prstGeom prst="roundRect">
            <a:avLst>
              <a:gd name="adj" fmla="val 3390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937760" y="2057400"/>
            <a:ext cx="3520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Подводные силы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Надводные силы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Морская авиация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Береговые войска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Флоты: Северный, Балтийский, Черноморский, Тихоокеанский и Каспийская флотилия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Отдельные рода войск</a:t>
            </a:r>
            <a:endParaRPr lang="en-US" sz="2800" dirty="0"/>
          </a:p>
        </p:txBody>
      </p:sp>
      <p:sp>
        <p:nvSpPr>
          <p:cNvPr id="4" name="Карточка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Круг иконки"/>
          <p:cNvSpPr/>
          <p:nvPr/>
        </p:nvSpPr>
        <p:spPr>
          <a:xfrm>
            <a:off x="658368" y="14813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1617391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219456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РВСН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2761488"/>
            <a:ext cx="35295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Основа стратегических ядерных сил России. Обеспечивают ядерное сдерживание.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39776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День РВСН — 17 декабря</a:t>
            </a:r>
            <a:endParaRPr lang="en-US" sz="1400" dirty="0"/>
          </a:p>
        </p:txBody>
      </p:sp>
      <p:sp>
        <p:nvSpPr>
          <p:cNvPr id="10" name="Карточка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Круг иконки"/>
          <p:cNvSpPr/>
          <p:nvPr/>
        </p:nvSpPr>
        <p:spPr>
          <a:xfrm>
            <a:off x="4956048" y="148132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111" y="1617391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56048" y="219456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ВДВ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956048" y="2761488"/>
            <a:ext cx="35295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Высокомобильный род войск: десантируется с воздуха и выполняет задачи в тылу противника. Девиз — «Никто, кроме нас!»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956048" y="39776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День ВДВ — 2 августа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Военные округа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С 2024 года вместо Западного округа действуют Московский и Ленинградский</a:t>
            </a:r>
            <a:endParaRPr lang="en-US" sz="1600" dirty="0"/>
          </a:p>
        </p:txBody>
      </p:sp>
      <p:sp>
        <p:nvSpPr>
          <p:cNvPr id="5" name="Карточка"/>
          <p:cNvSpPr/>
          <p:nvPr/>
        </p:nvSpPr>
        <p:spPr>
          <a:xfrm>
            <a:off x="457200" y="16459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Круг иконки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Иконка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1890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71600" y="16459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Ленинградский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Санкт-Петербург</a:t>
            </a:r>
            <a:endParaRPr lang="en-US" sz="1400" dirty="0"/>
          </a:p>
        </p:txBody>
      </p:sp>
      <p:sp>
        <p:nvSpPr>
          <p:cNvPr id="9" name="Карточка"/>
          <p:cNvSpPr/>
          <p:nvPr/>
        </p:nvSpPr>
        <p:spPr>
          <a:xfrm>
            <a:off x="3276600" y="16459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Круг иконки"/>
          <p:cNvSpPr/>
          <p:nvPr/>
        </p:nvSpPr>
        <p:spPr>
          <a:xfrm>
            <a:off x="345948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Иконка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154" y="21890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91000" y="16459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Московский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Москва</a:t>
            </a:r>
            <a:endParaRPr lang="en-US" sz="1400" dirty="0"/>
          </a:p>
        </p:txBody>
      </p:sp>
      <p:sp>
        <p:nvSpPr>
          <p:cNvPr id="13" name="Карточка"/>
          <p:cNvSpPr/>
          <p:nvPr/>
        </p:nvSpPr>
        <p:spPr>
          <a:xfrm>
            <a:off x="6096000" y="16459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Круг иконки"/>
          <p:cNvSpPr/>
          <p:nvPr/>
        </p:nvSpPr>
        <p:spPr>
          <a:xfrm>
            <a:off x="627888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Иконка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554" y="2189074"/>
            <a:ext cx="285293" cy="28529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10400" y="16459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Южный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Ростов-на-Дону</a:t>
            </a:r>
            <a:endParaRPr lang="en-US" sz="1400" dirty="0"/>
          </a:p>
        </p:txBody>
      </p:sp>
      <p:sp>
        <p:nvSpPr>
          <p:cNvPr id="17" name="Карточка"/>
          <p:cNvSpPr/>
          <p:nvPr/>
        </p:nvSpPr>
        <p:spPr>
          <a:xfrm>
            <a:off x="457200" y="32461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Круг иконки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Иконка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3789274"/>
            <a:ext cx="285293" cy="285293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71600" y="32461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Центральный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Екатеринбург</a:t>
            </a:r>
            <a:endParaRPr lang="en-US" sz="1400" dirty="0"/>
          </a:p>
        </p:txBody>
      </p:sp>
      <p:sp>
        <p:nvSpPr>
          <p:cNvPr id="21" name="Карточка"/>
          <p:cNvSpPr/>
          <p:nvPr/>
        </p:nvSpPr>
        <p:spPr>
          <a:xfrm>
            <a:off x="3276600" y="32461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Круг иконки"/>
          <p:cNvSpPr/>
          <p:nvPr/>
        </p:nvSpPr>
        <p:spPr>
          <a:xfrm>
            <a:off x="345948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Иконка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154" y="3789274"/>
            <a:ext cx="285293" cy="285293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191000" y="32461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Восточный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Хабаровск</a:t>
            </a:r>
            <a:endParaRPr lang="en-US" sz="1400" dirty="0"/>
          </a:p>
        </p:txBody>
      </p:sp>
      <p:sp>
        <p:nvSpPr>
          <p:cNvPr id="25" name="Карточка"/>
          <p:cNvSpPr/>
          <p:nvPr/>
        </p:nvSpPr>
        <p:spPr>
          <a:xfrm>
            <a:off x="6096000" y="3246120"/>
            <a:ext cx="259080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Круг иконки"/>
          <p:cNvSpPr/>
          <p:nvPr/>
        </p:nvSpPr>
        <p:spPr>
          <a:xfrm>
            <a:off x="6278880" y="3657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Иконка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554" y="3789274"/>
            <a:ext cx="285293" cy="285293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010400" y="3246120"/>
            <a:ext cx="1539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ОСК «Северный флот»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Штаб — Североморск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Воинские звания</a:t>
            </a:r>
            <a:endParaRPr lang="en-US" sz="2800" dirty="0"/>
          </a:p>
        </p:txBody>
      </p:sp>
      <p:sp>
        <p:nvSpPr>
          <p:cNvPr id="4" name="Ступень 1"/>
          <p:cNvSpPr/>
          <p:nvPr/>
        </p:nvSpPr>
        <p:spPr>
          <a:xfrm>
            <a:off x="457200" y="3154680"/>
            <a:ext cx="1920240" cy="1463040"/>
          </a:xfrm>
          <a:prstGeom prst="roundRect">
            <a:avLst>
              <a:gd name="adj" fmla="val 6250"/>
            </a:avLst>
          </a:prstGeom>
          <a:solidFill>
            <a:schemeClr val="accent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2918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Солдаты и матросы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рядовой, ефрейтор (матрос, старший матрос)</a:t>
            </a:r>
            <a:endParaRPr lang="en-US" sz="1400" dirty="0"/>
          </a:p>
        </p:txBody>
      </p:sp>
      <p:sp>
        <p:nvSpPr>
          <p:cNvPr id="6" name="Ступень 2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4762"/>
            </a:avLst>
          </a:prstGeom>
          <a:solidFill>
            <a:schemeClr val="accent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697480" y="265176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Сержанты и старшины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от младшего сержанта до старшины</a:t>
            </a:r>
            <a:endParaRPr lang="en-US" sz="1400" dirty="0"/>
          </a:p>
        </p:txBody>
      </p:sp>
      <p:sp>
        <p:nvSpPr>
          <p:cNvPr id="8" name="Ступень 3"/>
          <p:cNvSpPr/>
          <p:nvPr/>
        </p:nvSpPr>
        <p:spPr>
          <a:xfrm>
            <a:off x="4663440" y="1874520"/>
            <a:ext cx="1920240" cy="2743200"/>
          </a:xfrm>
          <a:prstGeom prst="roundRect">
            <a:avLst>
              <a:gd name="adj" fmla="val 4762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00600" y="201168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Прапорщики и мичманы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прапорщик, старший прапорщик (мичман, старший мичман)</a:t>
            </a:r>
            <a:endParaRPr lang="en-US" sz="1400" dirty="0"/>
          </a:p>
        </p:txBody>
      </p:sp>
      <p:sp>
        <p:nvSpPr>
          <p:cNvPr id="10" name="Ступень 4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4762"/>
            </a:avLst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03720" y="1371600"/>
            <a:ext cx="1645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Офицеры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младшие, старшие и высшие: от лейтенанта до генерала армии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Проверь себя</a:t>
            </a:r>
            <a:endParaRPr lang="en-US" sz="2800" dirty="0"/>
          </a:p>
        </p:txBody>
      </p:sp>
      <p:sp>
        <p:nvSpPr>
          <p:cNvPr id="4" name="Карточка"/>
          <p:cNvSpPr/>
          <p:nvPr/>
        </p:nvSpPr>
        <p:spPr>
          <a:xfrm>
            <a:off x="457200" y="1188720"/>
            <a:ext cx="822960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Номер"/>
          <p:cNvSpPr/>
          <p:nvPr/>
        </p:nvSpPr>
        <p:spPr>
          <a:xfrm>
            <a:off x="640080" y="128473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847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188720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Кто является Верховным Главнокомандующим Вооружёнными Силами РФ?</a:t>
            </a:r>
            <a:endParaRPr lang="en-US" sz="1600" dirty="0"/>
          </a:p>
        </p:txBody>
      </p:sp>
      <p:sp>
        <p:nvSpPr>
          <p:cNvPr id="8" name="Карточка"/>
          <p:cNvSpPr/>
          <p:nvPr/>
        </p:nvSpPr>
        <p:spPr>
          <a:xfrm>
            <a:off x="457200" y="1892808"/>
            <a:ext cx="822960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Номер"/>
          <p:cNvSpPr/>
          <p:nvPr/>
        </p:nvSpPr>
        <p:spPr>
          <a:xfrm>
            <a:off x="640080" y="19888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9888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1892808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Какую дату отмечают как День создания Вооружённых Сил РФ?</a:t>
            </a:r>
            <a:endParaRPr lang="en-US" sz="1600" dirty="0"/>
          </a:p>
        </p:txBody>
      </p:sp>
      <p:sp>
        <p:nvSpPr>
          <p:cNvPr id="12" name="Карточка"/>
          <p:cNvSpPr/>
          <p:nvPr/>
        </p:nvSpPr>
        <p:spPr>
          <a:xfrm>
            <a:off x="457200" y="2596896"/>
            <a:ext cx="822960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Номер"/>
          <p:cNvSpPr/>
          <p:nvPr/>
        </p:nvSpPr>
        <p:spPr>
          <a:xfrm>
            <a:off x="640080" y="269290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6929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2596896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Назовите три вида Вооружённых Сил.</a:t>
            </a:r>
            <a:endParaRPr lang="en-US" sz="1600" dirty="0"/>
          </a:p>
        </p:txBody>
      </p:sp>
      <p:sp>
        <p:nvSpPr>
          <p:cNvPr id="16" name="Карточка"/>
          <p:cNvSpPr/>
          <p:nvPr/>
        </p:nvSpPr>
        <p:spPr>
          <a:xfrm>
            <a:off x="457200" y="3300984"/>
            <a:ext cx="822960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Номер"/>
          <p:cNvSpPr/>
          <p:nvPr/>
        </p:nvSpPr>
        <p:spPr>
          <a:xfrm>
            <a:off x="640080" y="339699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0080" y="33969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300984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Какие два рода войск являются отдельными?</a:t>
            </a:r>
            <a:endParaRPr lang="en-US" sz="1600" dirty="0"/>
          </a:p>
        </p:txBody>
      </p:sp>
      <p:sp>
        <p:nvSpPr>
          <p:cNvPr id="20" name="Карточка"/>
          <p:cNvSpPr/>
          <p:nvPr/>
        </p:nvSpPr>
        <p:spPr>
          <a:xfrm>
            <a:off x="457200" y="4005072"/>
            <a:ext cx="8229600" cy="612648"/>
          </a:xfrm>
          <a:prstGeom prst="roundRect">
            <a:avLst>
              <a:gd name="adj" fmla="val 14925"/>
            </a:avLst>
          </a:prstGeom>
          <a:solidFill>
            <a:schemeClr val="bg2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Номер"/>
          <p:cNvSpPr/>
          <p:nvPr/>
        </p:nvSpPr>
        <p:spPr>
          <a:xfrm>
            <a:off x="640080" y="410108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" y="41010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4005072"/>
            <a:ext cx="72237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Сколько военных округов в России? Назовите их.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Итоги урока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Главное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Вооружённые Силы защищают страну и её территорию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Руководят ими Президент, Минобороны и Генеральный штаб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Три вида, два отдельных рода войск, пять военных округов</a:t>
            </a:r>
            <a:endParaRPr lang="en-US" sz="1600" dirty="0"/>
          </a:p>
        </p:txBody>
      </p:sp>
      <p:sp>
        <p:nvSpPr>
          <p:cNvPr id="6" name="Карточка"/>
          <p:cNvSpPr/>
          <p:nvPr/>
        </p:nvSpPr>
        <p:spPr>
          <a:xfrm>
            <a:off x="4937760" y="1188720"/>
            <a:ext cx="3749040" cy="2926080"/>
          </a:xfrm>
          <a:prstGeom prst="roundRect">
            <a:avLst>
              <a:gd name="adj" fmla="val 312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Домашнее задание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18745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Подготовьте короткое сообщение (3–4 предложения) об одном виде или роде войск: чем занимается и какая у него техника.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Нормативная база: Конституция РФ, ст. 59; ФЗ «Об обороне»; ФЗ «О статусе военнослужащих». Сведения актуальны на октябрь 2026 г.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БЗР Лысково">
  <a:themeElements>
    <a:clrScheme name="ОБЗР Лысково">
      <a:dk1>
        <a:srgbClr val="2C3E50"/>
      </a:dk1>
      <a:lt1>
        <a:srgbClr val="FFFFFF"/>
      </a:lt1>
      <a:dk2>
        <a:srgbClr val="003D7A"/>
      </a:dk2>
      <a:lt2>
        <a:srgbClr val="F5F7FA"/>
      </a:lt2>
      <a:accent1>
        <a:srgbClr val="003D7A"/>
      </a:accent1>
      <a:accent2>
        <a:srgbClr val="D32F2F"/>
      </a:accent2>
      <a:accent3>
        <a:srgbClr val="2E7D32"/>
      </a:accent3>
      <a:accent4>
        <a:srgbClr val="B45309"/>
      </a:accent4>
      <a:accent5>
        <a:srgbClr val="00518A"/>
      </a:accent5>
      <a:accent6>
        <a:srgbClr val="5F6C75"/>
      </a:accent6>
      <a:hlink>
        <a:srgbClr val="00518A"/>
      </a:hlink>
      <a:folHlink>
        <a:srgbClr val="5F6C75"/>
      </a:folHlink>
    </a:clrScheme>
    <a:fontScheme name="ОБЗР Лысково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Вооружённые Силы Российской Федерации</dc:title>
  <dc:subject>Начальная военная подготовка</dc:subject>
  <dc:creator>Дёмин А.Ю.</dc:creator>
  <cp:lastModifiedBy>Дёмин А.Ю.</cp:lastModifiedBy>
  <cp:revision>1</cp:revision>
  <dcterms:created xsi:type="dcterms:W3CDTF">2026-10-04T18:34:32Z</dcterms:created>
  <dcterms:modified xsi:type="dcterms:W3CDTF">2026-10-04T18:34:32Z</dcterms:modified>
</cp:coreProperties>
</file>