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Практикум на 40 минут. Основа: конспект урока «Практикум по отработке практических навыков оказания первой помощи (моделирование ситуаций)». Все приёмы отрабатываются на тренажёрах и друг на друге без нагрузки.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станции по 6 минут, на переход 2 минуты. Роли в тройке меняются.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Инструктаж по технике безопасности — 3 минуты в начале урока. Жгут накладывается на тренажёр или валик из свёрнутой одежды; на живом человеке не затягивается.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Последовательность действий: безопасность → сознание и дыхание → осмотр на наружное кровотечение → осмотр → помощь → положение тела и вызов скорой помощи → наблюдение и поддержка. Учитель фиксирует её на доске.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блиц-опросе обучающиеся называют номера 103 и 112 и объясняют, когда звонить.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Проверка дыхания: смотрю, слушаю, ощущаю, не более 10 секунд. При отсутствии дыхания — вызов помощи и начало реанимации.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Метроном 100–120 ударов в минуту. При отсутствии тренажёра можно использовать плотную подушку.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Жгут накладывается на тренажёр или валик из свёрнутой одежды, на живом человеке не затягивается.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Шины или подручные средства для иммобилизации: картон, линейки, ремни.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меняются на каждой станции. Наблюдатель называет ошибки при разборе.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минуты на рефлексию и домашнее задание.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Конспект урока доступен на сайте demin-obzr.ru в разделе «Коллегам».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D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Основы безопасности и защиты Родины · Практикум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Практикум «Первая помощь»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Моделирование ситуаций: потеря сознания, кровотечение, травма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Дёмин А.Ю. · МБОУ СШ № 2 г. Лысково</a:t>
            </a:r>
            <a:endParaRPr lang="en-US" sz="1200" dirty="0"/>
          </a:p>
        </p:txBody>
      </p:sp>
      <p:sp>
        <p:nvSpPr>
          <p:cNvPr id="6" name="title-icon-bg"/>
          <p:cNvSpPr/>
          <p:nvPr/>
        </p:nvSpPr>
        <p:spPr>
          <a:xfrm>
            <a:off x="6309360" y="1325880"/>
            <a:ext cx="2286000" cy="2286000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pic>
        <p:nvPicPr>
          <p:cNvPr id="7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920240"/>
            <a:ext cx="109728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Ход практикума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ОБЗР · Практикум «Первая помощь» · Дёмин А.Ю., МБОУ СШ № 2 г. Лысково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card"/>
          <p:cNvSpPr/>
          <p:nvPr/>
        </p:nvSpPr>
        <p:spPr>
          <a:xfrm>
            <a:off x="457200" y="1371600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" name="step-1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48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D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Инструктаж и алгоритм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346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мин: правила безопасности, блиц-опрос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2560320" y="1371600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1" name="step-2"/>
          <p:cNvSpPr/>
          <p:nvPr/>
        </p:nvSpPr>
        <p:spPr>
          <a:xfrm>
            <a:off x="2743200" y="1554480"/>
            <a:ext cx="457200" cy="457200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148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D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 эталона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28346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мин: учитель показывает каждую станцию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4663440" y="1371600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6" name="step-3"/>
          <p:cNvSpPr/>
          <p:nvPr/>
        </p:nvSpPr>
        <p:spPr>
          <a:xfrm>
            <a:off x="4846320" y="1554480"/>
            <a:ext cx="457200" cy="457200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148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D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станции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8346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мин: по 6 минут, 2 минуты на переход</a:t>
            </a:r>
            <a:endParaRPr lang="en-US" sz="1300" dirty="0"/>
          </a:p>
        </p:txBody>
      </p:sp>
      <p:sp>
        <p:nvSpPr>
          <p:cNvPr id="20" name="card"/>
          <p:cNvSpPr/>
          <p:nvPr/>
        </p:nvSpPr>
        <p:spPr>
          <a:xfrm>
            <a:off x="6766560" y="1371600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1" name="step-4"/>
          <p:cNvSpPr/>
          <p:nvPr/>
        </p:nvSpPr>
        <p:spPr>
          <a:xfrm>
            <a:off x="6949440" y="1554480"/>
            <a:ext cx="457200" cy="457200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494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2148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D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и рефлексия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28346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мин: ошибки, «Светофор»</a:t>
            </a:r>
            <a:endParaRPr lang="en-US" sz="1300" dirty="0"/>
          </a:p>
        </p:txBody>
      </p:sp>
      <p:sp>
        <p:nvSpPr>
          <p:cNvPr id="25" name="band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40 минут · в тройке роли меняются на каждой станции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Правила безопасности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ОБЗР · Практикум «Первая помощь» · Дёмин А.Ю., МБОУ СШ № 2 г. Лысково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card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" name="rule-1-bg"/>
          <p:cNvSpPr/>
          <p:nvPr/>
        </p:nvSpPr>
        <p:spPr>
          <a:xfrm>
            <a:off x="594360" y="1307592"/>
            <a:ext cx="493776" cy="493776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pic>
        <p:nvPicPr>
          <p:cNvPr id="7" name="rule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742" y="1435974"/>
            <a:ext cx="237012" cy="2370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28930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Приёмы отрабатываем без резких движений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6362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началом — инструктаж по технике безопасности (3 минуты)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1" name="rule-2-bg"/>
          <p:cNvSpPr/>
          <p:nvPr/>
        </p:nvSpPr>
        <p:spPr>
          <a:xfrm>
            <a:off x="594360" y="2039112"/>
            <a:ext cx="493776" cy="493776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pic>
        <p:nvPicPr>
          <p:cNvPr id="12" name="rule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42" y="2167494"/>
            <a:ext cx="237012" cy="23701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80160" y="202082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Жгут — только на тренажёр или валик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280160" y="2295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живом человеке жгут не затягивается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6" name="rule-3-bg"/>
          <p:cNvSpPr/>
          <p:nvPr/>
        </p:nvSpPr>
        <p:spPr>
          <a:xfrm>
            <a:off x="594360" y="2770632"/>
            <a:ext cx="493776" cy="493776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pic>
        <p:nvPicPr>
          <p:cNvPr id="17" name="rule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742" y="2899014"/>
            <a:ext cx="237012" cy="23701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80160" y="275234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Перчатки — по необходимости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280160" y="302666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Учебные аптечки: бинты, жгуты, косынки, перчатки</a:t>
            </a:r>
            <a:endParaRPr lang="en-US" sz="1300" dirty="0"/>
          </a:p>
        </p:txBody>
      </p:sp>
      <p:sp>
        <p:nvSpPr>
          <p:cNvPr id="20" name="card"/>
          <p:cNvSpPr/>
          <p:nvPr/>
        </p:nvSpPr>
        <p:spPr>
          <a:xfrm>
            <a:off x="457200" y="342900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1" name="rule-4-bg"/>
          <p:cNvSpPr/>
          <p:nvPr/>
        </p:nvSpPr>
        <p:spPr>
          <a:xfrm>
            <a:off x="594360" y="3502152"/>
            <a:ext cx="493776" cy="493776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pic>
        <p:nvPicPr>
          <p:cNvPr id="22" name="rule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742" y="3630534"/>
            <a:ext cx="237012" cy="23701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80160" y="348386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Освобождённые от нагрузок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1280160" y="375818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Выполняют роль наблюдателя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Последовательность действий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ОБЗР · Практикум «Первая помощь» · Дёмин А.Ю., МБОУ СШ № 2 г. Лысково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card"/>
          <p:cNvSpPr/>
          <p:nvPr/>
        </p:nvSpPr>
        <p:spPr>
          <a:xfrm>
            <a:off x="457200" y="1554480"/>
            <a:ext cx="1078992" cy="2011680"/>
          </a:xfrm>
          <a:prstGeom prst="roundRect">
            <a:avLst>
              <a:gd name="adj" fmla="val 6780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" name="alg-1"/>
          <p:cNvSpPr/>
          <p:nvPr/>
        </p:nvSpPr>
        <p:spPr>
          <a:xfrm>
            <a:off x="731520" y="1691640"/>
            <a:ext cx="530352" cy="530352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916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12064" y="2377440"/>
            <a:ext cx="969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1645920" y="1554480"/>
            <a:ext cx="1078992" cy="2011680"/>
          </a:xfrm>
          <a:prstGeom prst="roundRect">
            <a:avLst>
              <a:gd name="adj" fmla="val 6780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0" name="alg-2"/>
          <p:cNvSpPr/>
          <p:nvPr/>
        </p:nvSpPr>
        <p:spPr>
          <a:xfrm>
            <a:off x="1920240" y="1691640"/>
            <a:ext cx="530352" cy="530352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920240" y="16916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700784" y="2377440"/>
            <a:ext cx="969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Сознание и дыхание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2834640" y="1554480"/>
            <a:ext cx="1078992" cy="2011680"/>
          </a:xfrm>
          <a:prstGeom prst="roundRect">
            <a:avLst>
              <a:gd name="adj" fmla="val 6780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4" name="alg-3"/>
          <p:cNvSpPr/>
          <p:nvPr/>
        </p:nvSpPr>
        <p:spPr>
          <a:xfrm>
            <a:off x="3108960" y="1691640"/>
            <a:ext cx="530352" cy="530352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08960" y="16916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2889504" y="2377440"/>
            <a:ext cx="969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Наружное кровотечение</a:t>
            </a:r>
            <a:endParaRPr lang="en-US" sz="1100" dirty="0"/>
          </a:p>
        </p:txBody>
      </p:sp>
      <p:sp>
        <p:nvSpPr>
          <p:cNvPr id="17" name="card"/>
          <p:cNvSpPr/>
          <p:nvPr/>
        </p:nvSpPr>
        <p:spPr>
          <a:xfrm>
            <a:off x="4023360" y="1554480"/>
            <a:ext cx="1078992" cy="2011680"/>
          </a:xfrm>
          <a:prstGeom prst="roundRect">
            <a:avLst>
              <a:gd name="adj" fmla="val 6780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8" name="alg-4"/>
          <p:cNvSpPr/>
          <p:nvPr/>
        </p:nvSpPr>
        <p:spPr>
          <a:xfrm>
            <a:off x="4297680" y="1691640"/>
            <a:ext cx="530352" cy="530352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297680" y="16916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078224" y="2377440"/>
            <a:ext cx="969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Осмотр</a:t>
            </a:r>
            <a:endParaRPr lang="en-US" sz="1100" dirty="0"/>
          </a:p>
        </p:txBody>
      </p:sp>
      <p:sp>
        <p:nvSpPr>
          <p:cNvPr id="21" name="card"/>
          <p:cNvSpPr/>
          <p:nvPr/>
        </p:nvSpPr>
        <p:spPr>
          <a:xfrm>
            <a:off x="5212080" y="1554480"/>
            <a:ext cx="1078992" cy="2011680"/>
          </a:xfrm>
          <a:prstGeom prst="roundRect">
            <a:avLst>
              <a:gd name="adj" fmla="val 6780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2" name="alg-5"/>
          <p:cNvSpPr/>
          <p:nvPr/>
        </p:nvSpPr>
        <p:spPr>
          <a:xfrm>
            <a:off x="5486400" y="1691640"/>
            <a:ext cx="530352" cy="530352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0" y="16916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266944" y="2377440"/>
            <a:ext cx="969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Помощь</a:t>
            </a:r>
            <a:endParaRPr lang="en-US" sz="1100" dirty="0"/>
          </a:p>
        </p:txBody>
      </p:sp>
      <p:sp>
        <p:nvSpPr>
          <p:cNvPr id="25" name="card"/>
          <p:cNvSpPr/>
          <p:nvPr/>
        </p:nvSpPr>
        <p:spPr>
          <a:xfrm>
            <a:off x="6400800" y="1554480"/>
            <a:ext cx="1078992" cy="2011680"/>
          </a:xfrm>
          <a:prstGeom prst="roundRect">
            <a:avLst>
              <a:gd name="adj" fmla="val 6780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6" name="alg-6"/>
          <p:cNvSpPr/>
          <p:nvPr/>
        </p:nvSpPr>
        <p:spPr>
          <a:xfrm>
            <a:off x="6675120" y="1691640"/>
            <a:ext cx="530352" cy="530352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75120" y="16916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55664" y="2377440"/>
            <a:ext cx="969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Положение и вызов</a:t>
            </a:r>
            <a:endParaRPr lang="en-US" sz="1100" dirty="0"/>
          </a:p>
        </p:txBody>
      </p:sp>
      <p:sp>
        <p:nvSpPr>
          <p:cNvPr id="29" name="card"/>
          <p:cNvSpPr/>
          <p:nvPr/>
        </p:nvSpPr>
        <p:spPr>
          <a:xfrm>
            <a:off x="7589520" y="1554480"/>
            <a:ext cx="1078992" cy="2011680"/>
          </a:xfrm>
          <a:prstGeom prst="roundRect">
            <a:avLst>
              <a:gd name="adj" fmla="val 6780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30" name="alg-7"/>
          <p:cNvSpPr/>
          <p:nvPr/>
        </p:nvSpPr>
        <p:spPr>
          <a:xfrm>
            <a:off x="7863840" y="1691640"/>
            <a:ext cx="530352" cy="530352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863840" y="16916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644384" y="2377440"/>
            <a:ext cx="969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Наблюдение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Сначала оцени безопасность и убедись, что тебе самому ничто не угрожает. Затем действуй по порядку.</a:t>
            </a:r>
            <a:endParaRPr lang="en-US" sz="1400" dirty="0"/>
          </a:p>
        </p:txBody>
      </p:sp>
      <p:sp>
        <p:nvSpPr>
          <p:cNvPr id="34" name="band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Сначала безопасность, потом помощь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Вызов помощи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ОБЗР · Практикум «Первая помощь» · Дёмин А.Ю., МБОУ СШ № 2 г. Лысково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card"/>
          <p:cNvSpPr/>
          <p:nvPr/>
        </p:nvSpPr>
        <p:spPr>
          <a:xfrm>
            <a:off x="457200" y="1280160"/>
            <a:ext cx="3931920" cy="2651760"/>
          </a:xfrm>
          <a:prstGeom prst="roundRect">
            <a:avLst>
              <a:gd name="adj" fmla="val 2759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" name="card"/>
          <p:cNvSpPr/>
          <p:nvPr/>
        </p:nvSpPr>
        <p:spPr>
          <a:xfrm>
            <a:off x="4754880" y="1280160"/>
            <a:ext cx="3931920" cy="2651760"/>
          </a:xfrm>
          <a:prstGeom prst="roundRect">
            <a:avLst>
              <a:gd name="adj" fmla="val 2759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41732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E539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060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номер вызова экстренных служб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41732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6060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Скорая медицинская помощь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для блиц-опроса: когда и по каким номерам вызывать помощь (103 или 112)? Вызов — после оценки безопасности и первых действий по алгоритму.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Станция 1. «Без сознания»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ОБЗР · Практикум «Первая помощь» · Дёмин А.Ю., МБОУ СШ № 2 г. Лысково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card"/>
          <p:cNvSpPr/>
          <p:nvPr/>
        </p:nvSpPr>
        <p:spPr>
          <a:xfrm>
            <a:off x="457200" y="1188720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1887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18872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Оцени безопасность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Убедись, что место безопасно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57200" y="1810512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81051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181051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Проверь реакцию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Окликни, аккуратно потряси за плечи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457200" y="2432304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" y="243230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4323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Освободи дыхательные пути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Запрокинь голову, подними подбородок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457200" y="3054096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3054096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30540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Проверь дыхание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Смотрю, слушаю, ощущаю — не более 10 секунд</a:t>
            </a:r>
            <a:endParaRPr lang="en-US" sz="1400" dirty="0"/>
          </a:p>
        </p:txBody>
      </p:sp>
      <p:sp>
        <p:nvSpPr>
          <p:cNvPr id="17" name="card"/>
          <p:cNvSpPr/>
          <p:nvPr/>
        </p:nvSpPr>
        <p:spPr>
          <a:xfrm>
            <a:off x="5669280" y="1188720"/>
            <a:ext cx="3017520" cy="1371600"/>
          </a:xfrm>
          <a:prstGeom prst="roundRect">
            <a:avLst>
              <a:gd name="adj" fmla="val 5333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8" name="card"/>
          <p:cNvSpPr/>
          <p:nvPr/>
        </p:nvSpPr>
        <p:spPr>
          <a:xfrm>
            <a:off x="5669280" y="2697480"/>
            <a:ext cx="3017520" cy="1371600"/>
          </a:xfrm>
          <a:prstGeom prst="roundRect">
            <a:avLst>
              <a:gd name="adj" fmla="val 5333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06440" y="12618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D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Дыхание есть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806440" y="162763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Устойчивое боковое положение, наблюдение, вызов помощи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806440" y="27706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Дыхания нет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313639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Вызов помощи и начало реанимации: 30 : 2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Реанимацию отрабатываем только на тренажёре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Сердечно-лёгочная реанимация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ОБЗР · Практикум «Первая помощь» · Дёмин А.Ю., МБОУ СШ № 2 г. Лысково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card"/>
          <p:cNvSpPr/>
          <p:nvPr/>
        </p:nvSpPr>
        <p:spPr>
          <a:xfrm>
            <a:off x="457200" y="1234440"/>
            <a:ext cx="2651760" cy="2194560"/>
          </a:xfrm>
          <a:prstGeom prst="roundRect">
            <a:avLst>
              <a:gd name="adj" fmla="val 3333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" name="card"/>
          <p:cNvSpPr/>
          <p:nvPr/>
        </p:nvSpPr>
        <p:spPr>
          <a:xfrm>
            <a:off x="3246120" y="1234440"/>
            <a:ext cx="2651760" cy="2194560"/>
          </a:xfrm>
          <a:prstGeom prst="roundRect">
            <a:avLst>
              <a:gd name="adj" fmla="val 3333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7" name="card"/>
          <p:cNvSpPr/>
          <p:nvPr/>
        </p:nvSpPr>
        <p:spPr>
          <a:xfrm>
            <a:off x="6035040" y="1234440"/>
            <a:ext cx="2651760" cy="2194560"/>
          </a:xfrm>
          <a:prstGeom prst="roundRect">
            <a:avLst>
              <a:gd name="adj" fmla="val 3333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4630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539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: 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надавливаний к вдохам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14630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100–120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24688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надавливаний в минуту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4630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тренажёр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24688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или плотная подушка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Темп помогает держать метроном или счёт. Работаем парами: один выполняет приём, другой следит за темпом по чек-листу.</a:t>
            </a:r>
            <a:endParaRPr lang="en-US" sz="1400" dirty="0"/>
          </a:p>
        </p:txBody>
      </p:sp>
      <p:sp>
        <p:nvSpPr>
          <p:cNvPr id="15" name="band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Реанимацию отрабатываем только на тренажёре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Станция 2. «Кровотечение»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ОБЗР · Практикум «Первая помощь» · Дёмин А.Ю., МБОУ СШ № 2 г. Лысково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card"/>
          <p:cNvSpPr/>
          <p:nvPr/>
        </p:nvSpPr>
        <p:spPr>
          <a:xfrm>
            <a:off x="457200" y="1234440"/>
            <a:ext cx="3840480" cy="2926080"/>
          </a:xfrm>
          <a:prstGeom prst="roundRect">
            <a:avLst>
              <a:gd name="adj" fmla="val 2500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" name="card"/>
          <p:cNvSpPr/>
          <p:nvPr/>
        </p:nvSpPr>
        <p:spPr>
          <a:xfrm>
            <a:off x="4572000" y="1234440"/>
            <a:ext cx="4114800" cy="2926080"/>
          </a:xfrm>
          <a:prstGeom prst="roundRect">
            <a:avLst>
              <a:gd name="adj" fmla="val 2500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7" name="st1-icon-bg"/>
          <p:cNvSpPr/>
          <p:nvPr/>
        </p:nvSpPr>
        <p:spPr>
          <a:xfrm>
            <a:off x="640080" y="1417320"/>
            <a:ext cx="640080" cy="640080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pic>
        <p:nvPicPr>
          <p:cNvPr id="8" name="st1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1583741"/>
            <a:ext cx="307238" cy="30723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D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Ситуация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1945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Рана предплечья, кровь бьёт струёй.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2004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наложения жгута нужно зафиксировать.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D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делаем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192024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Прямое давление на рану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Давящая повязка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Жгут (на тренажёре) с отметкой времени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Вызов помощи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Станция 3. «Травма»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ОБЗР · Практикум «Первая помощь» · Дёмин А.Ю., МБОУ СШ № 2 г. Лысково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card"/>
          <p:cNvSpPr/>
          <p:nvPr/>
        </p:nvSpPr>
        <p:spPr>
          <a:xfrm>
            <a:off x="457200" y="1234440"/>
            <a:ext cx="3840480" cy="2926080"/>
          </a:xfrm>
          <a:prstGeom prst="roundRect">
            <a:avLst>
              <a:gd name="adj" fmla="val 2500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" name="card"/>
          <p:cNvSpPr/>
          <p:nvPr/>
        </p:nvSpPr>
        <p:spPr>
          <a:xfrm>
            <a:off x="4572000" y="1234440"/>
            <a:ext cx="4114800" cy="2926080"/>
          </a:xfrm>
          <a:prstGeom prst="roundRect">
            <a:avLst>
              <a:gd name="adj" fmla="val 2500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7" name="st3-icon-bg"/>
          <p:cNvSpPr/>
          <p:nvPr/>
        </p:nvSpPr>
        <p:spPr>
          <a:xfrm>
            <a:off x="640080" y="1417320"/>
            <a:ext cx="640080" cy="640080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pic>
        <p:nvPicPr>
          <p:cNvPr id="8" name="st3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1583741"/>
            <a:ext cx="307238" cy="30723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D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Ситуация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1945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Падение с велосипеда: рана колена и подозрение на перелом предплечья.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D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делаем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192024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Повязка на колено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Иммобилизация предплечья подручными средствами (картон, линейки, ремни)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Удобное положение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Наблюдение за состоянием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Роли и типичные ошибки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ОБЗР · Практикум «Первая помощь» · Дёмин А.Ю., МБОУ СШ № 2 г. Лысково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card"/>
          <p:cNvSpPr/>
          <p:nvPr/>
        </p:nvSpPr>
        <p:spPr>
          <a:xfrm>
            <a:off x="457200" y="118872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" name="role-1-bg"/>
          <p:cNvSpPr/>
          <p:nvPr/>
        </p:nvSpPr>
        <p:spPr>
          <a:xfrm>
            <a:off x="594360" y="1417320"/>
            <a:ext cx="731520" cy="731520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pic>
        <p:nvPicPr>
          <p:cNvPr id="7" name="role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555" y="1607515"/>
            <a:ext cx="351130" cy="35113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D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1783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выполняет приёмы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3246120" y="118872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1" name="role-2-bg"/>
          <p:cNvSpPr/>
          <p:nvPr/>
        </p:nvSpPr>
        <p:spPr>
          <a:xfrm>
            <a:off x="3383280" y="1417320"/>
            <a:ext cx="731520" cy="731520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pic>
        <p:nvPicPr>
          <p:cNvPr id="12" name="role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475" y="160751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25196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D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Пострадавший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1783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изображает ситуацию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6035040" y="118872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6" name="role-3-bg"/>
          <p:cNvSpPr/>
          <p:nvPr/>
        </p:nvSpPr>
        <p:spPr>
          <a:xfrm>
            <a:off x="6172200" y="1417320"/>
            <a:ext cx="731520" cy="731520"/>
          </a:xfrm>
          <a:prstGeom prst="ellipse">
            <a:avLst/>
          </a:prstGeom>
          <a:solidFill>
            <a:srgbClr val="003D7A"/>
          </a:solidFill>
          <a:ln w="12700">
            <a:solidFill>
              <a:srgbClr val="003D7A"/>
            </a:solidFill>
            <a:prstDash val="solid"/>
          </a:ln>
        </p:spPr>
      </p:sp>
      <p:pic>
        <p:nvPicPr>
          <p:cNvPr id="17" name="role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395" y="1607515"/>
            <a:ext cx="351130" cy="35113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04088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D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Наблюдатель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7040880" y="1783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заполняет чек-лист</a:t>
            </a:r>
            <a:endParaRPr lang="en-US" sz="1300" dirty="0"/>
          </a:p>
        </p:txBody>
      </p:sp>
      <p:sp>
        <p:nvSpPr>
          <p:cNvPr id="20" name="card"/>
          <p:cNvSpPr/>
          <p:nvPr/>
        </p:nvSpPr>
        <p:spPr>
          <a:xfrm>
            <a:off x="457200" y="26060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40080" y="2697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Типичные ошибки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306324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оценили безопасность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Забыли вызвать помощь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Неправильное положение рук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отметили время наложения жгута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Рефлексия и задание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ОБЗР · Практикум «Первая помощь» · Дёмин А.Ю., МБОУ СШ № 2 г. Лысково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card"/>
          <p:cNvSpPr/>
          <p:nvPr/>
        </p:nvSpPr>
        <p:spPr>
          <a:xfrm>
            <a:off x="457200" y="1234440"/>
            <a:ext cx="4023360" cy="2834640"/>
          </a:xfrm>
          <a:prstGeom prst="roundRect">
            <a:avLst>
              <a:gd name="adj" fmla="val 2581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" name="card"/>
          <p:cNvSpPr/>
          <p:nvPr/>
        </p:nvSpPr>
        <p:spPr>
          <a:xfrm>
            <a:off x="4663440" y="1234440"/>
            <a:ext cx="4023360" cy="2834640"/>
          </a:xfrm>
          <a:prstGeom prst="roundRect">
            <a:avLst>
              <a:gd name="adj" fmla="val 2581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D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«Светофор»</a:t>
            </a:r>
            <a:endParaRPr lang="en-US" sz="1800" dirty="0"/>
          </a:p>
        </p:txBody>
      </p:sp>
      <p:sp>
        <p:nvSpPr>
          <p:cNvPr id="8" name="light-1"/>
          <p:cNvSpPr/>
          <p:nvPr/>
        </p:nvSpPr>
        <p:spPr>
          <a:xfrm>
            <a:off x="685800" y="1965960"/>
            <a:ext cx="411480" cy="41148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965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получилось</a:t>
            </a:r>
            <a:endParaRPr lang="en-US" sz="1400" dirty="0"/>
          </a:p>
        </p:txBody>
      </p:sp>
      <p:sp>
        <p:nvSpPr>
          <p:cNvPr id="10" name="light-2"/>
          <p:cNvSpPr/>
          <p:nvPr/>
        </p:nvSpPr>
        <p:spPr>
          <a:xfrm>
            <a:off x="685800" y="2606040"/>
            <a:ext cx="411480" cy="411480"/>
          </a:xfrm>
          <a:prstGeom prst="ellipse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80160" y="2606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Были затруднения</a:t>
            </a:r>
            <a:endParaRPr lang="en-US" sz="1400" dirty="0"/>
          </a:p>
        </p:txBody>
      </p:sp>
      <p:sp>
        <p:nvSpPr>
          <p:cNvPr id="12" name="light-3"/>
          <p:cNvSpPr/>
          <p:nvPr/>
        </p:nvSpPr>
        <p:spPr>
          <a:xfrm>
            <a:off x="685800" y="3246120"/>
            <a:ext cx="411480" cy="411480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80160" y="3246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Нужна дополнительная тренировка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D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Домашнее задание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192024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Выучить последовательность действий при оказании первой помощи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Памятка на 1 странице: состав домашней аптечки и порядок действий при порезе, ожоге и обмороке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ОБЗР · Практикум «Первая помощь» · Дёмин А.Ю., МБОУ СШ № 2 г. Лысково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card"/>
          <p:cNvSpPr/>
          <p:nvPr/>
        </p:nvSpPr>
        <p:spPr>
          <a:xfrm>
            <a:off x="457200" y="123444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F3F6FA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Приказ Министерства здравоохранения Российской Федерации от 03.05.2024 № 220н «Об утверждении Порядка оказания первой помощи».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Федеральная рабочая программа учебного предмета «Основы безопасности и защиты Родины», 8–9 классы, 2026–2027 учебный год.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83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подготовлена с использованием инструментов искусственного интеллекта и проверена преподавателем. Носит методический характер. Приёмы первой помощи отрабатываются под контролем учителя на тренажёрах.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Практикум «Первая помощь»</dc:title>
  <dc:subject>PptxGenJS Presentation</dc:subject>
  <dc:creator>Дёмин А.Ю.</dc:creator>
  <cp:lastModifiedBy>Дёмин А.Ю.</cp:lastModifiedBy>
  <cp:revision>1</cp:revision>
  <dcterms:created xsi:type="dcterms:W3CDTF">2026-10-29T18:23:15Z</dcterms:created>
  <dcterms:modified xsi:type="dcterms:W3CDTF">2026-10-29T18:23:15Z</dcterms:modified>
</cp:coreProperties>
</file>